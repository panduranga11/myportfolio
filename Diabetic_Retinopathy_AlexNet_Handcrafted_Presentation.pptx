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D1B4B"/>
          </a:solidFill>
          <a:ln w="12700">
            <a:solidFill>
              <a:srgbClr val="0D1B4B">
                <a:alpha val="0"/>
              </a:srgbClr>
            </a:solidFill>
            <a:prstDash val="solid"/>
          </a:ln>
        </p:spPr>
      </p:sp>
      <p:sp>
        <p:nvSpPr>
          <p:cNvPr id="3" name="Text 1"/>
          <p:cNvSpPr/>
          <p:nvPr/>
        </p:nvSpPr>
        <p:spPr>
          <a:xfrm>
            <a:off x="384048" y="146304"/>
            <a:ext cx="6583680" cy="23774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System Architecture</a:t>
            </a:r>
            <a:endParaRPr lang="en-US" sz="2200" dirty="0"/>
          </a:p>
        </p:txBody>
      </p:sp>
      <p:sp>
        <p:nvSpPr>
          <p:cNvPr id="4" name="Text 2"/>
          <p:cNvSpPr/>
          <p:nvPr/>
        </p:nvSpPr>
        <p:spPr>
          <a:xfrm>
            <a:off x="384048" y="694944"/>
            <a:ext cx="10972800" cy="164592"/>
          </a:xfrm>
          <a:prstGeom prst="rect">
            <a:avLst/>
          </a:prstGeom>
          <a:noFill/>
          <a:ln/>
        </p:spPr>
        <p:txBody>
          <a:bodyPr wrap="square" lIns="0" tIns="0" rIns="0" bIns="0" rtlCol="0" anchor="ctr"/>
          <a:lstStyle/>
          <a:p>
            <a:pPr indent="0" marL="0">
              <a:buNone/>
            </a:pPr>
            <a:r>
              <a:rPr lang="en-US" sz="1050" i="1" dirty="0">
                <a:solidFill>
                  <a:srgbClr val="5B7DB1"/>
                </a:solidFill>
                <a:latin typeface="Calibri" pitchFamily="34" charset="0"/>
                <a:ea typeface="Calibri" pitchFamily="34" charset="-122"/>
                <a:cs typeface="Calibri" pitchFamily="34" charset="-120"/>
              </a:rPr>
              <a:t>Three approaches, six systems — Focus: Approach 3, System 6 (AlexNet + Handcrafted) — Best Performing</a:t>
            </a:r>
            <a:endParaRPr lang="en-US" sz="1050" dirty="0"/>
          </a:p>
        </p:txBody>
      </p:sp>
      <p:sp>
        <p:nvSpPr>
          <p:cNvPr id="5" name="Shape 3"/>
          <p:cNvSpPr/>
          <p:nvPr/>
        </p:nvSpPr>
        <p:spPr>
          <a:xfrm>
            <a:off x="0" y="6601968"/>
            <a:ext cx="12191695" cy="256032"/>
          </a:xfrm>
          <a:prstGeom prst="rect">
            <a:avLst/>
          </a:prstGeom>
          <a:solidFill>
            <a:srgbClr val="050D22"/>
          </a:solidFill>
          <a:ln w="12700">
            <a:solidFill>
              <a:srgbClr val="050D22">
                <a:alpha val="0"/>
              </a:srgbClr>
            </a:solidFill>
            <a:prstDash val="solid"/>
          </a:ln>
        </p:spPr>
      </p:sp>
      <p:sp>
        <p:nvSpPr>
          <p:cNvPr id="6" name="Text 4"/>
          <p:cNvSpPr/>
          <p:nvPr/>
        </p:nvSpPr>
        <p:spPr>
          <a:xfrm>
            <a:off x="411480" y="6656832"/>
            <a:ext cx="8503920" cy="109728"/>
          </a:xfrm>
          <a:prstGeom prst="rect">
            <a:avLst/>
          </a:prstGeom>
          <a:noFill/>
          <a:ln/>
        </p:spPr>
        <p:txBody>
          <a:bodyPr wrap="square" lIns="0" tIns="0" rIns="0" bIns="0" rtlCol="0" anchor="ctr"/>
          <a:lstStyle/>
          <a:p>
            <a:pPr indent="0" marL="0">
              <a:buNone/>
            </a:pPr>
            <a:r>
              <a:rPr lang="en-US" sz="750" dirty="0">
                <a:solidFill>
                  <a:srgbClr val="5B7DB1"/>
                </a:solidFill>
                <a:latin typeface="Calibri" pitchFamily="34" charset="0"/>
                <a:ea typeface="Calibri" pitchFamily="34" charset="-122"/>
                <a:cs typeface="Calibri" pitchFamily="34" charset="-120"/>
              </a:rPr>
              <a:t>Diabetic Retinopathy Detection Using Deep Learning | AlexNet + Handcrafted Features</a:t>
            </a:r>
            <a:endParaRPr lang="en-US" sz="750" dirty="0"/>
          </a:p>
        </p:txBody>
      </p:sp>
      <p:sp>
        <p:nvSpPr>
          <p:cNvPr id="7" name="Shape 5"/>
          <p:cNvSpPr/>
          <p:nvPr/>
        </p:nvSpPr>
        <p:spPr>
          <a:xfrm>
            <a:off x="438912" y="969264"/>
            <a:ext cx="3611880" cy="1005840"/>
          </a:xfrm>
          <a:prstGeom prst="roundRect">
            <a:avLst>
              <a:gd name="adj" fmla="val 7273"/>
            </a:avLst>
          </a:prstGeom>
          <a:solidFill>
            <a:srgbClr val="EAF1FF"/>
          </a:solidFill>
          <a:ln w="12700">
            <a:solidFill>
              <a:srgbClr val="1A4FA0"/>
            </a:solidFill>
            <a:prstDash val="solid"/>
          </a:ln>
          <a:effectLst>
            <a:outerShdw sx="100000" sy="100000" kx="0" ky="0" algn="bl" rotWithShape="0" blurRad="12700" dist="50800" dir="2700000">
              <a:srgbClr val="B7C3D7">
                <a:alpha val="15000"/>
              </a:srgbClr>
            </a:outerShdw>
          </a:effectLst>
        </p:spPr>
      </p:sp>
      <p:sp>
        <p:nvSpPr>
          <p:cNvPr id="8" name="Shape 6"/>
          <p:cNvSpPr/>
          <p:nvPr/>
        </p:nvSpPr>
        <p:spPr>
          <a:xfrm>
            <a:off x="438912" y="969264"/>
            <a:ext cx="3611880" cy="310896"/>
          </a:xfrm>
          <a:prstGeom prst="roundRect">
            <a:avLst>
              <a:gd name="adj" fmla="val 23529"/>
            </a:avLst>
          </a:prstGeom>
          <a:solidFill>
            <a:srgbClr val="1A4FA0"/>
          </a:solidFill>
          <a:ln w="12700">
            <a:solidFill>
              <a:srgbClr val="1A4FA0">
                <a:alpha val="0"/>
              </a:srgbClr>
            </a:solidFill>
            <a:prstDash val="solid"/>
          </a:ln>
        </p:spPr>
      </p:sp>
      <p:sp>
        <p:nvSpPr>
          <p:cNvPr id="9" name="Text 7"/>
          <p:cNvSpPr/>
          <p:nvPr/>
        </p:nvSpPr>
        <p:spPr>
          <a:xfrm>
            <a:off x="548640" y="1033272"/>
            <a:ext cx="3392424" cy="164592"/>
          </a:xfrm>
          <a:prstGeom prst="rect">
            <a:avLst/>
          </a:prstGeom>
          <a:noFill/>
          <a:ln/>
        </p:spPr>
        <p:txBody>
          <a:bodyPr wrap="square" lIns="0" tIns="0" rIns="0" bIns="0" rtlCol="0" anchor="ctr"/>
          <a:lstStyle/>
          <a:p>
            <a:pPr indent="0" marL="0">
              <a:buNone/>
            </a:pPr>
            <a:r>
              <a:rPr lang="en-US" sz="1220" b="1" dirty="0">
                <a:solidFill>
                  <a:srgbClr val="FFFFFF"/>
                </a:solidFill>
                <a:latin typeface="Calibri" pitchFamily="34" charset="0"/>
                <a:ea typeface="Calibri" pitchFamily="34" charset="-122"/>
                <a:cs typeface="Calibri" pitchFamily="34" charset="-120"/>
              </a:rPr>
              <a:t>Approach 1 — CNN Features + PCA</a:t>
            </a:r>
            <a:endParaRPr lang="en-US" sz="1220" dirty="0"/>
          </a:p>
        </p:txBody>
      </p:sp>
      <p:sp>
        <p:nvSpPr>
          <p:cNvPr id="10" name="Text 8"/>
          <p:cNvSpPr/>
          <p:nvPr/>
        </p:nvSpPr>
        <p:spPr>
          <a:xfrm>
            <a:off x="548640" y="1371600"/>
            <a:ext cx="3410712" cy="548640"/>
          </a:xfrm>
          <a:prstGeom prst="rect">
            <a:avLst/>
          </a:prstGeom>
          <a:noFill/>
          <a:ln/>
        </p:spPr>
        <p:txBody>
          <a:bodyPr wrap="square" lIns="254" tIns="254" rIns="254" bIns="254" rtlCol="0" anchor="t">
            <a:normAutofit/>
          </a:bodyPr>
          <a:lstStyle/>
          <a:p>
            <a:pPr indent="0" marL="0">
              <a:buNone/>
            </a:pPr>
            <a:r>
              <a:rPr lang="en-US" sz="1020" dirty="0">
                <a:solidFill>
                  <a:srgbClr val="1E293B"/>
                </a:solidFill>
                <a:latin typeface="Calibri" pitchFamily="34" charset="0"/>
                <a:ea typeface="Calibri" pitchFamily="34" charset="-122"/>
                <a:cs typeface="Calibri" pitchFamily="34" charset="-120"/>
              </a:rPr>
              <a:t>• System 1: DenseNet-121 → PCA → ANN</a:t>
            </a:r>
            <a:endParaRPr lang="en-US" sz="1020" dirty="0"/>
          </a:p>
          <a:p>
            <a:pPr indent="0" marL="0">
              <a:buNone/>
            </a:pPr>
            <a:r>
              <a:rPr lang="en-US" sz="1020" dirty="0">
                <a:solidFill>
                  <a:srgbClr val="1E293B"/>
                </a:solidFill>
                <a:latin typeface="Calibri" pitchFamily="34" charset="0"/>
                <a:ea typeface="Calibri" pitchFamily="34" charset="-122"/>
                <a:cs typeface="Calibri" pitchFamily="34" charset="-120"/>
              </a:rPr>
              <a:t>• System 2: AlexNet → PCA → ANN</a:t>
            </a:r>
            <a:endParaRPr lang="en-US" sz="1020" dirty="0"/>
          </a:p>
        </p:txBody>
      </p:sp>
      <p:sp>
        <p:nvSpPr>
          <p:cNvPr id="11" name="Shape 9"/>
          <p:cNvSpPr/>
          <p:nvPr/>
        </p:nvSpPr>
        <p:spPr>
          <a:xfrm>
            <a:off x="4288536" y="969264"/>
            <a:ext cx="3611880" cy="1005840"/>
          </a:xfrm>
          <a:prstGeom prst="roundRect">
            <a:avLst>
              <a:gd name="adj" fmla="val 7273"/>
            </a:avLst>
          </a:prstGeom>
          <a:solidFill>
            <a:srgbClr val="F4F5F8"/>
          </a:solidFill>
          <a:ln w="12700">
            <a:solidFill>
              <a:srgbClr val="3A3A4A"/>
            </a:solidFill>
            <a:prstDash val="solid"/>
          </a:ln>
          <a:effectLst>
            <a:outerShdw sx="100000" sy="100000" kx="0" ky="0" algn="bl" rotWithShape="0" blurRad="12700" dist="50800" dir="2700000">
              <a:srgbClr val="B7C3D7">
                <a:alpha val="15000"/>
              </a:srgbClr>
            </a:outerShdw>
          </a:effectLst>
        </p:spPr>
      </p:sp>
      <p:sp>
        <p:nvSpPr>
          <p:cNvPr id="12" name="Shape 10"/>
          <p:cNvSpPr/>
          <p:nvPr/>
        </p:nvSpPr>
        <p:spPr>
          <a:xfrm>
            <a:off x="4288536" y="969264"/>
            <a:ext cx="3611880" cy="310896"/>
          </a:xfrm>
          <a:prstGeom prst="roundRect">
            <a:avLst>
              <a:gd name="adj" fmla="val 23529"/>
            </a:avLst>
          </a:prstGeom>
          <a:solidFill>
            <a:srgbClr val="3A3A4A"/>
          </a:solidFill>
          <a:ln w="12700">
            <a:solidFill>
              <a:srgbClr val="3A3A4A">
                <a:alpha val="0"/>
              </a:srgbClr>
            </a:solidFill>
            <a:prstDash val="solid"/>
          </a:ln>
        </p:spPr>
      </p:sp>
      <p:sp>
        <p:nvSpPr>
          <p:cNvPr id="13" name="Text 11"/>
          <p:cNvSpPr/>
          <p:nvPr/>
        </p:nvSpPr>
        <p:spPr>
          <a:xfrm>
            <a:off x="4398264" y="1033272"/>
            <a:ext cx="3392424" cy="164592"/>
          </a:xfrm>
          <a:prstGeom prst="rect">
            <a:avLst/>
          </a:prstGeom>
          <a:noFill/>
          <a:ln/>
        </p:spPr>
        <p:txBody>
          <a:bodyPr wrap="square" lIns="0" tIns="0" rIns="0" bIns="0" rtlCol="0" anchor="ctr"/>
          <a:lstStyle/>
          <a:p>
            <a:pPr indent="0" marL="0">
              <a:buNone/>
            </a:pPr>
            <a:r>
              <a:rPr lang="en-US" sz="1220" b="1" dirty="0">
                <a:solidFill>
                  <a:srgbClr val="FFFFFF"/>
                </a:solidFill>
                <a:latin typeface="Calibri" pitchFamily="34" charset="0"/>
                <a:ea typeface="Calibri" pitchFamily="34" charset="-122"/>
                <a:cs typeface="Calibri" pitchFamily="34" charset="-120"/>
              </a:rPr>
              <a:t>Approach 2 — Hybrid CNN Fusion</a:t>
            </a:r>
            <a:endParaRPr lang="en-US" sz="1220" dirty="0"/>
          </a:p>
        </p:txBody>
      </p:sp>
      <p:sp>
        <p:nvSpPr>
          <p:cNvPr id="14" name="Text 12"/>
          <p:cNvSpPr/>
          <p:nvPr/>
        </p:nvSpPr>
        <p:spPr>
          <a:xfrm>
            <a:off x="4398264" y="1371600"/>
            <a:ext cx="3410712" cy="548640"/>
          </a:xfrm>
          <a:prstGeom prst="rect">
            <a:avLst/>
          </a:prstGeom>
          <a:noFill/>
          <a:ln/>
        </p:spPr>
        <p:txBody>
          <a:bodyPr wrap="square" lIns="254" tIns="254" rIns="254" bIns="254" rtlCol="0" anchor="t">
            <a:normAutofit/>
          </a:bodyPr>
          <a:lstStyle/>
          <a:p>
            <a:pPr indent="0" marL="0">
              <a:buNone/>
            </a:pPr>
            <a:r>
              <a:rPr lang="en-US" sz="1010" dirty="0">
                <a:solidFill>
                  <a:srgbClr val="1E293B"/>
                </a:solidFill>
                <a:latin typeface="Calibri" pitchFamily="34" charset="0"/>
                <a:ea typeface="Calibri" pitchFamily="34" charset="-122"/>
                <a:cs typeface="Calibri" pitchFamily="34" charset="-120"/>
              </a:rPr>
              <a:t>• System 3: DenseNet-121 + AlexNet before PCA</a:t>
            </a:r>
            <a:endParaRPr lang="en-US" sz="1010" dirty="0"/>
          </a:p>
          <a:p>
            <a:pPr indent="0" marL="0">
              <a:buNone/>
            </a:pPr>
            <a:r>
              <a:rPr lang="en-US" sz="1010" dirty="0">
                <a:solidFill>
                  <a:srgbClr val="1E293B"/>
                </a:solidFill>
                <a:latin typeface="Calibri" pitchFamily="34" charset="0"/>
                <a:ea typeface="Calibri" pitchFamily="34" charset="-122"/>
                <a:cs typeface="Calibri" pitchFamily="34" charset="-120"/>
              </a:rPr>
              <a:t>• System 4: DenseNet-121 + AlexNet after PCA</a:t>
            </a:r>
            <a:endParaRPr lang="en-US" sz="1010" dirty="0"/>
          </a:p>
        </p:txBody>
      </p:sp>
      <p:sp>
        <p:nvSpPr>
          <p:cNvPr id="15" name="Shape 13"/>
          <p:cNvSpPr/>
          <p:nvPr/>
        </p:nvSpPr>
        <p:spPr>
          <a:xfrm>
            <a:off x="8138160" y="969264"/>
            <a:ext cx="3611880" cy="1005840"/>
          </a:xfrm>
          <a:prstGeom prst="roundRect">
            <a:avLst>
              <a:gd name="adj" fmla="val 7273"/>
            </a:avLst>
          </a:prstGeom>
          <a:solidFill>
            <a:srgbClr val="ECFBF7"/>
          </a:solidFill>
          <a:ln w="12700">
            <a:solidFill>
              <a:srgbClr val="0E6B58"/>
            </a:solidFill>
            <a:prstDash val="solid"/>
          </a:ln>
          <a:effectLst>
            <a:outerShdw sx="100000" sy="100000" kx="0" ky="0" algn="bl" rotWithShape="0" blurRad="12700" dist="50800" dir="2700000">
              <a:srgbClr val="B7C3D7">
                <a:alpha val="15000"/>
              </a:srgbClr>
            </a:outerShdw>
          </a:effectLst>
        </p:spPr>
      </p:sp>
      <p:sp>
        <p:nvSpPr>
          <p:cNvPr id="16" name="Shape 14"/>
          <p:cNvSpPr/>
          <p:nvPr/>
        </p:nvSpPr>
        <p:spPr>
          <a:xfrm>
            <a:off x="8138160" y="969264"/>
            <a:ext cx="3611880" cy="310896"/>
          </a:xfrm>
          <a:prstGeom prst="roundRect">
            <a:avLst>
              <a:gd name="adj" fmla="val 23529"/>
            </a:avLst>
          </a:prstGeom>
          <a:solidFill>
            <a:srgbClr val="0E6B58"/>
          </a:solidFill>
          <a:ln w="12700">
            <a:solidFill>
              <a:srgbClr val="0E6B58">
                <a:alpha val="0"/>
              </a:srgbClr>
            </a:solidFill>
            <a:prstDash val="solid"/>
          </a:ln>
        </p:spPr>
      </p:sp>
      <p:sp>
        <p:nvSpPr>
          <p:cNvPr id="17" name="Text 15"/>
          <p:cNvSpPr/>
          <p:nvPr/>
        </p:nvSpPr>
        <p:spPr>
          <a:xfrm>
            <a:off x="8247888" y="1033272"/>
            <a:ext cx="3392424" cy="164592"/>
          </a:xfrm>
          <a:prstGeom prst="rect">
            <a:avLst/>
          </a:prstGeom>
          <a:noFill/>
          <a:ln/>
        </p:spPr>
        <p:txBody>
          <a:bodyPr wrap="square" lIns="0" tIns="0" rIns="0" bIns="0" rtlCol="0" anchor="ctr"/>
          <a:lstStyle/>
          <a:p>
            <a:pPr indent="0" marL="0">
              <a:buNone/>
            </a:pPr>
            <a:r>
              <a:rPr lang="en-US" sz="1220" b="1" dirty="0">
                <a:solidFill>
                  <a:srgbClr val="FFFFFF"/>
                </a:solidFill>
                <a:latin typeface="Calibri" pitchFamily="34" charset="0"/>
                <a:ea typeface="Calibri" pitchFamily="34" charset="-122"/>
                <a:cs typeface="Calibri" pitchFamily="34" charset="-120"/>
              </a:rPr>
              <a:t>Approach 3 — Radiomic Features ★ BEST</a:t>
            </a:r>
            <a:endParaRPr lang="en-US" sz="1220" dirty="0"/>
          </a:p>
        </p:txBody>
      </p:sp>
      <p:sp>
        <p:nvSpPr>
          <p:cNvPr id="18" name="Text 16"/>
          <p:cNvSpPr/>
          <p:nvPr/>
        </p:nvSpPr>
        <p:spPr>
          <a:xfrm>
            <a:off x="8247888" y="1371600"/>
            <a:ext cx="3410712" cy="548640"/>
          </a:xfrm>
          <a:prstGeom prst="rect">
            <a:avLst/>
          </a:prstGeom>
          <a:noFill/>
          <a:ln/>
        </p:spPr>
        <p:txBody>
          <a:bodyPr wrap="square" lIns="254" tIns="254" rIns="254" bIns="254" rtlCol="0" anchor="t">
            <a:normAutofit/>
          </a:bodyPr>
          <a:lstStyle/>
          <a:p>
            <a:pPr indent="0" marL="0">
              <a:buNone/>
            </a:pPr>
            <a:r>
              <a:rPr lang="en-US" sz="1010" dirty="0">
                <a:solidFill>
                  <a:srgbClr val="1E293B"/>
                </a:solidFill>
                <a:latin typeface="Calibri" pitchFamily="34" charset="0"/>
                <a:ea typeface="Calibri" pitchFamily="34" charset="-122"/>
                <a:cs typeface="Calibri" pitchFamily="34" charset="-120"/>
              </a:rPr>
              <a:t>• System 5: DenseNet-121 + handcrafted → ANN</a:t>
            </a:r>
            <a:endParaRPr lang="en-US" sz="1010" dirty="0"/>
          </a:p>
          <a:p>
            <a:pPr indent="0" marL="0">
              <a:buNone/>
            </a:pPr>
            <a:r>
              <a:rPr lang="en-US" sz="1010" dirty="0">
                <a:solidFill>
                  <a:srgbClr val="1E293B"/>
                </a:solidFill>
                <a:latin typeface="Calibri" pitchFamily="34" charset="0"/>
                <a:ea typeface="Calibri" pitchFamily="34" charset="-122"/>
                <a:cs typeface="Calibri" pitchFamily="34" charset="-120"/>
              </a:rPr>
              <a:t>• System 6: AlexNet + handcrafted → ANN</a:t>
            </a:r>
            <a:endParaRPr lang="en-US" sz="1010" dirty="0"/>
          </a:p>
        </p:txBody>
      </p:sp>
      <p:sp>
        <p:nvSpPr>
          <p:cNvPr id="19" name="Shape 17"/>
          <p:cNvSpPr/>
          <p:nvPr/>
        </p:nvSpPr>
        <p:spPr>
          <a:xfrm>
            <a:off x="3194914" y="1965960"/>
            <a:ext cx="1609344" cy="354056"/>
          </a:xfrm>
          <a:prstGeom prst="roundRect">
            <a:avLst>
              <a:gd name="adj" fmla="val 20661"/>
            </a:avLst>
          </a:prstGeom>
          <a:solidFill>
            <a:srgbClr val="0E6B58"/>
          </a:solidFill>
          <a:ln w="12700">
            <a:solidFill>
              <a:srgbClr val="0E6B58"/>
            </a:solidFill>
            <a:prstDash val="solid"/>
          </a:ln>
        </p:spPr>
      </p:sp>
      <p:sp>
        <p:nvSpPr>
          <p:cNvPr id="20" name="Text 18"/>
          <p:cNvSpPr/>
          <p:nvPr/>
        </p:nvSpPr>
        <p:spPr>
          <a:xfrm>
            <a:off x="3304642" y="2075688"/>
            <a:ext cx="1408176" cy="207752"/>
          </a:xfrm>
          <a:prstGeom prst="rect">
            <a:avLst/>
          </a:prstGeom>
          <a:noFill/>
          <a:ln/>
        </p:spPr>
        <p:txBody>
          <a:bodyPr wrap="square" lIns="254" tIns="254" rIns="254" bIns="254" rtlCol="0" anchor="t">
            <a:normAutofit/>
          </a:bodyPr>
          <a:lstStyle/>
          <a:p>
            <a:pPr indent="0" marL="0">
              <a:buNone/>
            </a:pPr>
            <a:r>
              <a:rPr lang="en-US" sz="1020" dirty="0">
                <a:solidFill>
                  <a:srgbClr val="FFFFFF"/>
                </a:solidFill>
                <a:latin typeface="Calibri" pitchFamily="34" charset="0"/>
                <a:ea typeface="Calibri" pitchFamily="34" charset="-122"/>
                <a:cs typeface="Calibri" pitchFamily="34" charset="-120"/>
              </a:rPr>
              <a:t>Colour Fundus Image Input</a:t>
            </a:r>
            <a:endParaRPr lang="en-US" sz="1020" dirty="0"/>
          </a:p>
          <a:p>
            <a:pPr indent="0" marL="0">
              <a:buNone/>
            </a:pPr>
            <a:r>
              <a:rPr lang="en-US" sz="1020" dirty="0">
                <a:solidFill>
                  <a:srgbClr val="FFFFFF"/>
                </a:solidFill>
                <a:latin typeface="Calibri" pitchFamily="34" charset="0"/>
                <a:ea typeface="Calibri" pitchFamily="34" charset="-122"/>
                <a:cs typeface="Calibri" pitchFamily="34" charset="-120"/>
              </a:rPr>
              <a:t>227×227×3 RGB</a:t>
            </a:r>
            <a:endParaRPr lang="en-US" sz="1020" dirty="0"/>
          </a:p>
        </p:txBody>
      </p:sp>
      <p:sp>
        <p:nvSpPr>
          <p:cNvPr id="21" name="Shape 19"/>
          <p:cNvSpPr/>
          <p:nvPr/>
        </p:nvSpPr>
        <p:spPr>
          <a:xfrm>
            <a:off x="3999586" y="2320016"/>
            <a:ext cx="0" cy="197876"/>
          </a:xfrm>
          <a:prstGeom prst="line">
            <a:avLst/>
          </a:prstGeom>
          <a:noFill/>
          <a:ln w="12700">
            <a:solidFill>
              <a:srgbClr val="0E6B58"/>
            </a:solidFill>
            <a:prstDash val="solid"/>
            <a:tailEnd type="triangle"/>
          </a:ln>
        </p:spPr>
      </p:sp>
      <p:sp>
        <p:nvSpPr>
          <p:cNvPr id="22" name="Shape 20"/>
          <p:cNvSpPr/>
          <p:nvPr/>
        </p:nvSpPr>
        <p:spPr>
          <a:xfrm>
            <a:off x="3057754" y="2545324"/>
            <a:ext cx="1883664" cy="450616"/>
          </a:xfrm>
          <a:prstGeom prst="roundRect">
            <a:avLst>
              <a:gd name="adj" fmla="val 16234"/>
            </a:avLst>
          </a:prstGeom>
          <a:solidFill>
            <a:srgbClr val="4A3580"/>
          </a:solidFill>
          <a:ln w="12700">
            <a:solidFill>
              <a:srgbClr val="4A3580"/>
            </a:solidFill>
            <a:prstDash val="solid"/>
          </a:ln>
        </p:spPr>
      </p:sp>
      <p:sp>
        <p:nvSpPr>
          <p:cNvPr id="23" name="Text 21"/>
          <p:cNvSpPr/>
          <p:nvPr/>
        </p:nvSpPr>
        <p:spPr>
          <a:xfrm>
            <a:off x="3167482" y="2655052"/>
            <a:ext cx="1682496" cy="304312"/>
          </a:xfrm>
          <a:prstGeom prst="rect">
            <a:avLst/>
          </a:prstGeom>
          <a:noFill/>
          <a:ln/>
        </p:spPr>
        <p:txBody>
          <a:bodyPr wrap="square" lIns="254" tIns="254" rIns="254" bIns="254" rtlCol="0" anchor="t">
            <a:normAutofit/>
          </a:bodyPr>
          <a:lstStyle/>
          <a:p>
            <a:pPr indent="0" marL="0">
              <a:buNone/>
            </a:pPr>
            <a:r>
              <a:rPr lang="en-US" sz="1020" dirty="0">
                <a:solidFill>
                  <a:srgbClr val="FFFFFF"/>
                </a:solidFill>
                <a:latin typeface="Calibri" pitchFamily="34" charset="0"/>
                <a:ea typeface="Calibri" pitchFamily="34" charset="-122"/>
                <a:cs typeface="Calibri" pitchFamily="34" charset="-120"/>
              </a:rPr>
              <a:t>Preprocessing</a:t>
            </a:r>
            <a:endParaRPr lang="en-US" sz="1020" dirty="0"/>
          </a:p>
          <a:p>
            <a:pPr indent="0" marL="0">
              <a:buNone/>
            </a:pPr>
            <a:r>
              <a:rPr lang="en-US" sz="1020" dirty="0">
                <a:solidFill>
                  <a:srgbClr val="FFFFFF"/>
                </a:solidFill>
                <a:latin typeface="Calibri" pitchFamily="34" charset="0"/>
                <a:ea typeface="Calibri" pitchFamily="34" charset="-122"/>
                <a:cs typeface="Calibri" pitchFamily="34" charset="-120"/>
              </a:rPr>
              <a:t>Average Filter + CLAHE</a:t>
            </a:r>
            <a:endParaRPr lang="en-US" sz="1020" dirty="0"/>
          </a:p>
        </p:txBody>
      </p:sp>
      <p:sp>
        <p:nvSpPr>
          <p:cNvPr id="24" name="Shape 22"/>
          <p:cNvSpPr/>
          <p:nvPr/>
        </p:nvSpPr>
        <p:spPr>
          <a:xfrm>
            <a:off x="3999586" y="2995940"/>
            <a:ext cx="-2051914" cy="378196"/>
          </a:xfrm>
          <a:prstGeom prst="line">
            <a:avLst/>
          </a:prstGeom>
          <a:noFill/>
          <a:ln w="12700">
            <a:solidFill>
              <a:srgbClr val="4A3580"/>
            </a:solidFill>
            <a:prstDash val="solid"/>
            <a:tailEnd type="triangle"/>
          </a:ln>
        </p:spPr>
      </p:sp>
      <p:sp>
        <p:nvSpPr>
          <p:cNvPr id="25" name="Shape 23"/>
          <p:cNvSpPr/>
          <p:nvPr/>
        </p:nvSpPr>
        <p:spPr>
          <a:xfrm>
            <a:off x="4045306" y="2995940"/>
            <a:ext cx="2207362" cy="378196"/>
          </a:xfrm>
          <a:prstGeom prst="line">
            <a:avLst/>
          </a:prstGeom>
          <a:noFill/>
          <a:ln w="12700">
            <a:solidFill>
              <a:srgbClr val="4A3580"/>
            </a:solidFill>
            <a:prstDash val="solid"/>
            <a:tailEnd type="triangle"/>
          </a:ln>
        </p:spPr>
      </p:sp>
      <p:sp>
        <p:nvSpPr>
          <p:cNvPr id="26" name="Shape 24"/>
          <p:cNvSpPr/>
          <p:nvPr/>
        </p:nvSpPr>
        <p:spPr>
          <a:xfrm>
            <a:off x="1143000" y="3430463"/>
            <a:ext cx="1609344" cy="434523"/>
          </a:xfrm>
          <a:prstGeom prst="roundRect">
            <a:avLst>
              <a:gd name="adj" fmla="val 16835"/>
            </a:avLst>
          </a:prstGeom>
          <a:solidFill>
            <a:srgbClr val="1A4FA0"/>
          </a:solidFill>
          <a:ln w="12700">
            <a:solidFill>
              <a:srgbClr val="1A4FA0"/>
            </a:solidFill>
            <a:prstDash val="solid"/>
          </a:ln>
        </p:spPr>
      </p:sp>
      <p:sp>
        <p:nvSpPr>
          <p:cNvPr id="27" name="Text 25"/>
          <p:cNvSpPr/>
          <p:nvPr/>
        </p:nvSpPr>
        <p:spPr>
          <a:xfrm>
            <a:off x="1252728" y="3540191"/>
            <a:ext cx="1408176" cy="288219"/>
          </a:xfrm>
          <a:prstGeom prst="rect">
            <a:avLst/>
          </a:prstGeom>
          <a:noFill/>
          <a:ln/>
        </p:spPr>
        <p:txBody>
          <a:bodyPr wrap="square" lIns="254" tIns="254" rIns="254" bIns="254" rtlCol="0" anchor="t">
            <a:normAutofit/>
          </a:bodyPr>
          <a:lstStyle/>
          <a:p>
            <a:pPr indent="0" marL="0">
              <a:buNone/>
            </a:pPr>
            <a:r>
              <a:rPr lang="en-US" sz="1010" dirty="0">
                <a:solidFill>
                  <a:srgbClr val="FFFFFF"/>
                </a:solidFill>
                <a:latin typeface="Calibri" pitchFamily="34" charset="0"/>
                <a:ea typeface="Calibri" pitchFamily="34" charset="-122"/>
                <a:cs typeface="Calibri" pitchFamily="34" charset="-120"/>
              </a:rPr>
              <a:t>AlexNet CNN</a:t>
            </a:r>
            <a:endParaRPr lang="en-US" sz="1010" dirty="0"/>
          </a:p>
          <a:p>
            <a:pPr indent="0" marL="0">
              <a:buNone/>
            </a:pPr>
            <a:r>
              <a:rPr lang="en-US" sz="1010" dirty="0">
                <a:solidFill>
                  <a:srgbClr val="FFFFFF"/>
                </a:solidFill>
                <a:latin typeface="Calibri" pitchFamily="34" charset="0"/>
                <a:ea typeface="Calibri" pitchFamily="34" charset="-122"/>
                <a:cs typeface="Calibri" pitchFamily="34" charset="-120"/>
              </a:rPr>
              <a:t>2048-dim deep vector</a:t>
            </a:r>
            <a:endParaRPr lang="en-US" sz="1010" dirty="0"/>
          </a:p>
        </p:txBody>
      </p:sp>
      <p:sp>
        <p:nvSpPr>
          <p:cNvPr id="28" name="Shape 26"/>
          <p:cNvSpPr/>
          <p:nvPr/>
        </p:nvSpPr>
        <p:spPr>
          <a:xfrm>
            <a:off x="1947672" y="3864986"/>
            <a:ext cx="0" cy="225308"/>
          </a:xfrm>
          <a:prstGeom prst="line">
            <a:avLst/>
          </a:prstGeom>
          <a:noFill/>
          <a:ln w="12700">
            <a:solidFill>
              <a:srgbClr val="1A4FA0"/>
            </a:solidFill>
            <a:prstDash val="solid"/>
            <a:tailEnd type="triangle"/>
          </a:ln>
        </p:spPr>
      </p:sp>
      <p:sp>
        <p:nvSpPr>
          <p:cNvPr id="29" name="Shape 27"/>
          <p:cNvSpPr/>
          <p:nvPr/>
        </p:nvSpPr>
        <p:spPr>
          <a:xfrm>
            <a:off x="1143000" y="4122481"/>
            <a:ext cx="1609344" cy="370149"/>
          </a:xfrm>
          <a:prstGeom prst="roundRect">
            <a:avLst>
              <a:gd name="adj" fmla="val 19763"/>
            </a:avLst>
          </a:prstGeom>
          <a:solidFill>
            <a:srgbClr val="3A3A4A"/>
          </a:solidFill>
          <a:ln w="12700">
            <a:solidFill>
              <a:srgbClr val="3A3A4A"/>
            </a:solidFill>
            <a:prstDash val="solid"/>
          </a:ln>
        </p:spPr>
      </p:sp>
      <p:sp>
        <p:nvSpPr>
          <p:cNvPr id="30" name="Text 28"/>
          <p:cNvSpPr/>
          <p:nvPr/>
        </p:nvSpPr>
        <p:spPr>
          <a:xfrm>
            <a:off x="1252728" y="4232209"/>
            <a:ext cx="1408176" cy="223845"/>
          </a:xfrm>
          <a:prstGeom prst="rect">
            <a:avLst/>
          </a:prstGeom>
          <a:noFill/>
          <a:ln/>
        </p:spPr>
        <p:txBody>
          <a:bodyPr wrap="square" lIns="254" tIns="254" rIns="254" bIns="254" rtlCol="0" anchor="t">
            <a:normAutofit/>
          </a:bodyPr>
          <a:lstStyle/>
          <a:p>
            <a:pPr indent="0" marL="0">
              <a:buNone/>
            </a:pPr>
            <a:r>
              <a:rPr lang="en-US" sz="1010" dirty="0">
                <a:solidFill>
                  <a:srgbClr val="FFFFFF"/>
                </a:solidFill>
                <a:latin typeface="Calibri" pitchFamily="34" charset="0"/>
                <a:ea typeface="Calibri" pitchFamily="34" charset="-122"/>
                <a:cs typeface="Calibri" pitchFamily="34" charset="-120"/>
              </a:rPr>
              <a:t>PCA</a:t>
            </a:r>
            <a:endParaRPr lang="en-US" sz="1010" dirty="0"/>
          </a:p>
          <a:p>
            <a:pPr indent="0" marL="0">
              <a:buNone/>
            </a:pPr>
            <a:r>
              <a:rPr lang="en-US" sz="1010" dirty="0">
                <a:solidFill>
                  <a:srgbClr val="FFFFFF"/>
                </a:solidFill>
                <a:latin typeface="Calibri" pitchFamily="34" charset="0"/>
                <a:ea typeface="Calibri" pitchFamily="34" charset="-122"/>
                <a:cs typeface="Calibri" pitchFamily="34" charset="-120"/>
              </a:rPr>
              <a:t>2048 → 512</a:t>
            </a:r>
            <a:endParaRPr lang="en-US" sz="1010" dirty="0"/>
          </a:p>
        </p:txBody>
      </p:sp>
      <p:sp>
        <p:nvSpPr>
          <p:cNvPr id="31" name="Shape 29"/>
          <p:cNvSpPr/>
          <p:nvPr/>
        </p:nvSpPr>
        <p:spPr>
          <a:xfrm>
            <a:off x="5447995" y="3430463"/>
            <a:ext cx="1975104" cy="1126541"/>
          </a:xfrm>
          <a:prstGeom prst="roundRect">
            <a:avLst>
              <a:gd name="adj" fmla="val 6494"/>
            </a:avLst>
          </a:prstGeom>
          <a:solidFill>
            <a:srgbClr val="FFF8F0"/>
          </a:solidFill>
          <a:ln w="12700">
            <a:solidFill>
              <a:srgbClr val="7A4A10"/>
            </a:solidFill>
            <a:prstDash val="solid"/>
          </a:ln>
        </p:spPr>
      </p:sp>
      <p:sp>
        <p:nvSpPr>
          <p:cNvPr id="32" name="Shape 30"/>
          <p:cNvSpPr/>
          <p:nvPr/>
        </p:nvSpPr>
        <p:spPr>
          <a:xfrm>
            <a:off x="5447995" y="3430463"/>
            <a:ext cx="1975104" cy="310896"/>
          </a:xfrm>
          <a:prstGeom prst="roundRect">
            <a:avLst>
              <a:gd name="adj" fmla="val 23529"/>
            </a:avLst>
          </a:prstGeom>
          <a:solidFill>
            <a:srgbClr val="7A4A10"/>
          </a:solidFill>
          <a:ln w="12700">
            <a:solidFill>
              <a:srgbClr val="7A4A10">
                <a:alpha val="0"/>
              </a:srgbClr>
            </a:solidFill>
            <a:prstDash val="solid"/>
          </a:ln>
        </p:spPr>
      </p:sp>
      <p:sp>
        <p:nvSpPr>
          <p:cNvPr id="33" name="Text 31"/>
          <p:cNvSpPr/>
          <p:nvPr/>
        </p:nvSpPr>
        <p:spPr>
          <a:xfrm>
            <a:off x="5557723" y="3494471"/>
            <a:ext cx="1755648" cy="164592"/>
          </a:xfrm>
          <a:prstGeom prst="rect">
            <a:avLst/>
          </a:prstGeom>
          <a:noFill/>
          <a:ln/>
        </p:spPr>
        <p:txBody>
          <a:bodyPr wrap="square" lIns="0" tIns="0" rIns="0" bIns="0" rtlCol="0" anchor="ctr"/>
          <a:lstStyle/>
          <a:p>
            <a:pPr indent="0" marL="0">
              <a:buNone/>
            </a:pPr>
            <a:r>
              <a:rPr lang="en-US" sz="1120" b="1" dirty="0">
                <a:solidFill>
                  <a:srgbClr val="FFFFFF"/>
                </a:solidFill>
                <a:latin typeface="Calibri" pitchFamily="34" charset="0"/>
                <a:ea typeface="Calibri" pitchFamily="34" charset="-122"/>
                <a:cs typeface="Calibri" pitchFamily="34" charset="-120"/>
              </a:rPr>
              <a:t>Handcrafted Features</a:t>
            </a:r>
            <a:endParaRPr lang="en-US" sz="1120" dirty="0"/>
          </a:p>
        </p:txBody>
      </p:sp>
      <p:sp>
        <p:nvSpPr>
          <p:cNvPr id="34" name="Text 32"/>
          <p:cNvSpPr/>
          <p:nvPr/>
        </p:nvSpPr>
        <p:spPr>
          <a:xfrm>
            <a:off x="5557723" y="3832799"/>
            <a:ext cx="1773936" cy="669341"/>
          </a:xfrm>
          <a:prstGeom prst="rect">
            <a:avLst/>
          </a:prstGeom>
          <a:noFill/>
          <a:ln/>
        </p:spPr>
        <p:txBody>
          <a:bodyPr wrap="square" lIns="254" tIns="254" rIns="254" bIns="254" rtlCol="0" anchor="t">
            <a:normAutofit/>
          </a:bodyPr>
          <a:lstStyle/>
          <a:p>
            <a:pPr indent="0" marL="0">
              <a:buNone/>
            </a:pPr>
            <a:r>
              <a:rPr lang="en-US" sz="960" dirty="0">
                <a:solidFill>
                  <a:srgbClr val="1E293B"/>
                </a:solidFill>
                <a:latin typeface="Calibri" pitchFamily="34" charset="0"/>
                <a:ea typeface="Calibri" pitchFamily="34" charset="-122"/>
                <a:cs typeface="Calibri" pitchFamily="34" charset="-120"/>
              </a:rPr>
              <a:t>DWT → 12</a:t>
            </a:r>
            <a:endParaRPr lang="en-US" sz="960" dirty="0"/>
          </a:p>
          <a:p>
            <a:pPr indent="0" marL="0">
              <a:buNone/>
            </a:pPr>
            <a:r>
              <a:rPr lang="en-US" sz="960" dirty="0">
                <a:solidFill>
                  <a:srgbClr val="1E293B"/>
                </a:solidFill>
                <a:latin typeface="Calibri" pitchFamily="34" charset="0"/>
                <a:ea typeface="Calibri" pitchFamily="34" charset="-122"/>
                <a:cs typeface="Calibri" pitchFamily="34" charset="-120"/>
              </a:rPr>
              <a:t>LBP → 203</a:t>
            </a:r>
            <a:endParaRPr lang="en-US" sz="960" dirty="0"/>
          </a:p>
          <a:p>
            <a:pPr indent="0" marL="0">
              <a:buNone/>
            </a:pPr>
            <a:r>
              <a:rPr lang="en-US" sz="960" dirty="0">
                <a:solidFill>
                  <a:srgbClr val="1E293B"/>
                </a:solidFill>
                <a:latin typeface="Calibri" pitchFamily="34" charset="0"/>
                <a:ea typeface="Calibri" pitchFamily="34" charset="-122"/>
                <a:cs typeface="Calibri" pitchFamily="34" charset="-120"/>
              </a:rPr>
              <a:t>FCH → 16</a:t>
            </a:r>
            <a:endParaRPr lang="en-US" sz="960" dirty="0"/>
          </a:p>
          <a:p>
            <a:pPr indent="0" marL="0">
              <a:buNone/>
            </a:pPr>
            <a:r>
              <a:rPr lang="en-US" sz="960" dirty="0">
                <a:solidFill>
                  <a:srgbClr val="1E293B"/>
                </a:solidFill>
                <a:latin typeface="Calibri" pitchFamily="34" charset="0"/>
                <a:ea typeface="Calibri" pitchFamily="34" charset="-122"/>
                <a:cs typeface="Calibri" pitchFamily="34" charset="-120"/>
              </a:rPr>
              <a:t>GLCM → 13</a:t>
            </a:r>
            <a:endParaRPr lang="en-US" sz="960" dirty="0"/>
          </a:p>
          <a:p>
            <a:pPr indent="0" marL="0">
              <a:buNone/>
            </a:pPr>
            <a:r>
              <a:rPr lang="en-US" sz="960" dirty="0">
                <a:solidFill>
                  <a:srgbClr val="1E293B"/>
                </a:solidFill>
                <a:latin typeface="Calibri" pitchFamily="34" charset="0"/>
                <a:ea typeface="Calibri" pitchFamily="34" charset="-122"/>
                <a:cs typeface="Calibri" pitchFamily="34" charset="-120"/>
              </a:rPr>
              <a:t>Total = 244</a:t>
            </a:r>
            <a:endParaRPr lang="en-US" sz="960" dirty="0"/>
          </a:p>
        </p:txBody>
      </p:sp>
      <p:sp>
        <p:nvSpPr>
          <p:cNvPr id="35" name="Shape 33"/>
          <p:cNvSpPr/>
          <p:nvPr/>
        </p:nvSpPr>
        <p:spPr>
          <a:xfrm>
            <a:off x="1947672" y="4492630"/>
            <a:ext cx="2051914" cy="321869"/>
          </a:xfrm>
          <a:prstGeom prst="line">
            <a:avLst/>
          </a:prstGeom>
          <a:noFill/>
          <a:ln w="12700">
            <a:solidFill>
              <a:srgbClr val="7A1A1A"/>
            </a:solidFill>
            <a:prstDash val="solid"/>
            <a:tailEnd type="triangle"/>
          </a:ln>
        </p:spPr>
      </p:sp>
      <p:sp>
        <p:nvSpPr>
          <p:cNvPr id="36" name="Shape 34"/>
          <p:cNvSpPr/>
          <p:nvPr/>
        </p:nvSpPr>
        <p:spPr>
          <a:xfrm>
            <a:off x="6435547" y="4557004"/>
            <a:ext cx="-2417674" cy="257495"/>
          </a:xfrm>
          <a:prstGeom prst="line">
            <a:avLst/>
          </a:prstGeom>
          <a:noFill/>
          <a:ln w="12700">
            <a:solidFill>
              <a:srgbClr val="7A1A1A"/>
            </a:solidFill>
            <a:prstDash val="solid"/>
            <a:tailEnd type="triangle"/>
          </a:ln>
        </p:spPr>
      </p:sp>
      <p:sp>
        <p:nvSpPr>
          <p:cNvPr id="37" name="Shape 35"/>
          <p:cNvSpPr/>
          <p:nvPr/>
        </p:nvSpPr>
        <p:spPr>
          <a:xfrm>
            <a:off x="3103474" y="4830592"/>
            <a:ext cx="1792224" cy="466710"/>
          </a:xfrm>
          <a:prstGeom prst="roundRect">
            <a:avLst>
              <a:gd name="adj" fmla="val 15674"/>
            </a:avLst>
          </a:prstGeom>
          <a:solidFill>
            <a:srgbClr val="7A1A1A"/>
          </a:solidFill>
          <a:ln w="12700">
            <a:solidFill>
              <a:srgbClr val="7A1A1A"/>
            </a:solidFill>
            <a:prstDash val="solid"/>
          </a:ln>
        </p:spPr>
      </p:sp>
      <p:sp>
        <p:nvSpPr>
          <p:cNvPr id="38" name="Text 36"/>
          <p:cNvSpPr/>
          <p:nvPr/>
        </p:nvSpPr>
        <p:spPr>
          <a:xfrm>
            <a:off x="3213202" y="4940320"/>
            <a:ext cx="1591056" cy="320406"/>
          </a:xfrm>
          <a:prstGeom prst="rect">
            <a:avLst/>
          </a:prstGeom>
          <a:noFill/>
          <a:ln/>
        </p:spPr>
        <p:txBody>
          <a:bodyPr wrap="square" lIns="254" tIns="254" rIns="254" bIns="254" rtlCol="0" anchor="t">
            <a:normAutofit/>
          </a:bodyPr>
          <a:lstStyle/>
          <a:p>
            <a:pPr indent="0" marL="0">
              <a:buNone/>
            </a:pPr>
            <a:r>
              <a:rPr lang="en-US" sz="1010" dirty="0">
                <a:solidFill>
                  <a:srgbClr val="FFFFFF"/>
                </a:solidFill>
                <a:latin typeface="Calibri" pitchFamily="34" charset="0"/>
                <a:ea typeface="Calibri" pitchFamily="34" charset="-122"/>
                <a:cs typeface="Calibri" pitchFamily="34" charset="-120"/>
              </a:rPr>
              <a:t>Radiomic Feature Fusion</a:t>
            </a:r>
            <a:endParaRPr lang="en-US" sz="1010" dirty="0"/>
          </a:p>
          <a:p>
            <a:pPr indent="0" marL="0">
              <a:buNone/>
            </a:pPr>
            <a:r>
              <a:rPr lang="en-US" sz="1010" dirty="0">
                <a:solidFill>
                  <a:srgbClr val="FFFFFF"/>
                </a:solidFill>
                <a:latin typeface="Calibri" pitchFamily="34" charset="0"/>
                <a:ea typeface="Calibri" pitchFamily="34" charset="-122"/>
                <a:cs typeface="Calibri" pitchFamily="34" charset="-120"/>
              </a:rPr>
              <a:t>512 ⊕ 244 = 756</a:t>
            </a:r>
            <a:endParaRPr lang="en-US" sz="1010" dirty="0"/>
          </a:p>
        </p:txBody>
      </p:sp>
      <p:sp>
        <p:nvSpPr>
          <p:cNvPr id="39" name="Shape 37"/>
          <p:cNvSpPr/>
          <p:nvPr/>
        </p:nvSpPr>
        <p:spPr>
          <a:xfrm>
            <a:off x="3999586" y="5297302"/>
            <a:ext cx="0" cy="225308"/>
          </a:xfrm>
          <a:prstGeom prst="line">
            <a:avLst/>
          </a:prstGeom>
          <a:noFill/>
          <a:ln w="12700">
            <a:solidFill>
              <a:srgbClr val="7A1A1A"/>
            </a:solidFill>
            <a:prstDash val="solid"/>
            <a:tailEnd type="triangle"/>
          </a:ln>
        </p:spPr>
      </p:sp>
      <p:sp>
        <p:nvSpPr>
          <p:cNvPr id="40" name="Shape 38"/>
          <p:cNvSpPr/>
          <p:nvPr/>
        </p:nvSpPr>
        <p:spPr>
          <a:xfrm>
            <a:off x="3149194" y="5554797"/>
            <a:ext cx="1700784" cy="434523"/>
          </a:xfrm>
          <a:prstGeom prst="roundRect">
            <a:avLst>
              <a:gd name="adj" fmla="val 16835"/>
            </a:avLst>
          </a:prstGeom>
          <a:solidFill>
            <a:srgbClr val="1A4FA0"/>
          </a:solidFill>
          <a:ln w="12700">
            <a:solidFill>
              <a:srgbClr val="1A4FA0"/>
            </a:solidFill>
            <a:prstDash val="solid"/>
          </a:ln>
        </p:spPr>
      </p:sp>
      <p:sp>
        <p:nvSpPr>
          <p:cNvPr id="41" name="Text 39"/>
          <p:cNvSpPr/>
          <p:nvPr/>
        </p:nvSpPr>
        <p:spPr>
          <a:xfrm>
            <a:off x="3258922" y="5664525"/>
            <a:ext cx="1499616" cy="288219"/>
          </a:xfrm>
          <a:prstGeom prst="rect">
            <a:avLst/>
          </a:prstGeom>
          <a:noFill/>
          <a:ln/>
        </p:spPr>
        <p:txBody>
          <a:bodyPr wrap="square" lIns="254" tIns="254" rIns="254" bIns="254" rtlCol="0" anchor="t">
            <a:normAutofit/>
          </a:bodyPr>
          <a:lstStyle/>
          <a:p>
            <a:pPr indent="0" marL="0">
              <a:buNone/>
            </a:pPr>
            <a:r>
              <a:rPr lang="en-US" sz="1000" dirty="0">
                <a:solidFill>
                  <a:srgbClr val="FFFFFF"/>
                </a:solidFill>
                <a:latin typeface="Calibri" pitchFamily="34" charset="0"/>
                <a:ea typeface="Calibri" pitchFamily="34" charset="-122"/>
                <a:cs typeface="Calibri" pitchFamily="34" charset="-120"/>
              </a:rPr>
              <a:t>ANN Classifier</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12 Hidden Layers + Softmax(5)</a:t>
            </a:r>
            <a:endParaRPr lang="en-US" sz="1000" dirty="0"/>
          </a:p>
        </p:txBody>
      </p:sp>
      <p:sp>
        <p:nvSpPr>
          <p:cNvPr id="42" name="Shape 40"/>
          <p:cNvSpPr/>
          <p:nvPr/>
        </p:nvSpPr>
        <p:spPr>
          <a:xfrm>
            <a:off x="3999586" y="5989320"/>
            <a:ext cx="0" cy="225308"/>
          </a:xfrm>
          <a:prstGeom prst="line">
            <a:avLst/>
          </a:prstGeom>
          <a:noFill/>
          <a:ln w="12700">
            <a:solidFill>
              <a:srgbClr val="1A4FA0"/>
            </a:solidFill>
            <a:prstDash val="solid"/>
            <a:tailEnd type="triangle"/>
          </a:ln>
        </p:spPr>
      </p:sp>
      <p:sp>
        <p:nvSpPr>
          <p:cNvPr id="43" name="Shape 41"/>
          <p:cNvSpPr/>
          <p:nvPr/>
        </p:nvSpPr>
        <p:spPr>
          <a:xfrm>
            <a:off x="1143000" y="6262908"/>
            <a:ext cx="869046" cy="305775"/>
          </a:xfrm>
          <a:prstGeom prst="roundRect">
            <a:avLst>
              <a:gd name="adj" fmla="val 23923"/>
            </a:avLst>
          </a:prstGeom>
          <a:solidFill>
            <a:srgbClr val="0E6B58"/>
          </a:solidFill>
          <a:ln w="12700">
            <a:solidFill>
              <a:srgbClr val="0E6B58"/>
            </a:solidFill>
            <a:prstDash val="solid"/>
          </a:ln>
        </p:spPr>
      </p:sp>
      <p:sp>
        <p:nvSpPr>
          <p:cNvPr id="44" name="Text 42"/>
          <p:cNvSpPr/>
          <p:nvPr/>
        </p:nvSpPr>
        <p:spPr>
          <a:xfrm>
            <a:off x="1252728" y="6372636"/>
            <a:ext cx="667878" cy="159471"/>
          </a:xfrm>
          <a:prstGeom prst="rect">
            <a:avLst/>
          </a:prstGeom>
          <a:noFill/>
          <a:ln/>
        </p:spPr>
        <p:txBody>
          <a:bodyPr wrap="square" lIns="254" tIns="254" rIns="254" bIns="254" rtlCol="0" anchor="t">
            <a:normAutofit/>
          </a:bodyPr>
          <a:lstStyle/>
          <a:p>
            <a:pPr indent="0" marL="0">
              <a:buNone/>
            </a:pPr>
            <a:r>
              <a:rPr lang="en-US" sz="940" dirty="0">
                <a:solidFill>
                  <a:srgbClr val="FFFFFF"/>
                </a:solidFill>
                <a:latin typeface="Calibri" pitchFamily="34" charset="0"/>
                <a:ea typeface="Calibri" pitchFamily="34" charset="-122"/>
                <a:cs typeface="Calibri" pitchFamily="34" charset="-120"/>
              </a:rPr>
              <a:t>No DR</a:t>
            </a:r>
            <a:endParaRPr lang="en-US" sz="940" dirty="0"/>
          </a:p>
        </p:txBody>
      </p:sp>
      <p:sp>
        <p:nvSpPr>
          <p:cNvPr id="45" name="Shape 43"/>
          <p:cNvSpPr/>
          <p:nvPr/>
        </p:nvSpPr>
        <p:spPr>
          <a:xfrm>
            <a:off x="2092513" y="6262908"/>
            <a:ext cx="869046" cy="305775"/>
          </a:xfrm>
          <a:prstGeom prst="roundRect">
            <a:avLst>
              <a:gd name="adj" fmla="val 23923"/>
            </a:avLst>
          </a:prstGeom>
          <a:solidFill>
            <a:srgbClr val="2E8B57"/>
          </a:solidFill>
          <a:ln w="12700">
            <a:solidFill>
              <a:srgbClr val="2E8B57"/>
            </a:solidFill>
            <a:prstDash val="solid"/>
          </a:ln>
        </p:spPr>
      </p:sp>
      <p:sp>
        <p:nvSpPr>
          <p:cNvPr id="46" name="Text 44"/>
          <p:cNvSpPr/>
          <p:nvPr/>
        </p:nvSpPr>
        <p:spPr>
          <a:xfrm>
            <a:off x="2202241" y="6372636"/>
            <a:ext cx="667878" cy="159471"/>
          </a:xfrm>
          <a:prstGeom prst="rect">
            <a:avLst/>
          </a:prstGeom>
          <a:noFill/>
          <a:ln/>
        </p:spPr>
        <p:txBody>
          <a:bodyPr wrap="square" lIns="254" tIns="254" rIns="254" bIns="254" rtlCol="0" anchor="t">
            <a:normAutofit/>
          </a:bodyPr>
          <a:lstStyle/>
          <a:p>
            <a:pPr indent="0" marL="0">
              <a:buNone/>
            </a:pPr>
            <a:r>
              <a:rPr lang="en-US" sz="940" dirty="0">
                <a:solidFill>
                  <a:srgbClr val="FFFFFF"/>
                </a:solidFill>
                <a:latin typeface="Calibri" pitchFamily="34" charset="0"/>
                <a:ea typeface="Calibri" pitchFamily="34" charset="-122"/>
                <a:cs typeface="Calibri" pitchFamily="34" charset="-120"/>
              </a:rPr>
              <a:t>Mild</a:t>
            </a:r>
            <a:endParaRPr lang="en-US" sz="940" dirty="0"/>
          </a:p>
        </p:txBody>
      </p:sp>
      <p:sp>
        <p:nvSpPr>
          <p:cNvPr id="47" name="Shape 45"/>
          <p:cNvSpPr/>
          <p:nvPr/>
        </p:nvSpPr>
        <p:spPr>
          <a:xfrm>
            <a:off x="3042026" y="6262908"/>
            <a:ext cx="869046" cy="305775"/>
          </a:xfrm>
          <a:prstGeom prst="roundRect">
            <a:avLst>
              <a:gd name="adj" fmla="val 23923"/>
            </a:avLst>
          </a:prstGeom>
          <a:solidFill>
            <a:srgbClr val="7A4A10"/>
          </a:solidFill>
          <a:ln w="12700">
            <a:solidFill>
              <a:srgbClr val="7A4A10"/>
            </a:solidFill>
            <a:prstDash val="solid"/>
          </a:ln>
        </p:spPr>
      </p:sp>
      <p:sp>
        <p:nvSpPr>
          <p:cNvPr id="48" name="Text 46"/>
          <p:cNvSpPr/>
          <p:nvPr/>
        </p:nvSpPr>
        <p:spPr>
          <a:xfrm>
            <a:off x="3151754" y="6372636"/>
            <a:ext cx="667878" cy="159471"/>
          </a:xfrm>
          <a:prstGeom prst="rect">
            <a:avLst/>
          </a:prstGeom>
          <a:noFill/>
          <a:ln/>
        </p:spPr>
        <p:txBody>
          <a:bodyPr wrap="square" lIns="254" tIns="254" rIns="254" bIns="254" rtlCol="0" anchor="t">
            <a:normAutofit/>
          </a:bodyPr>
          <a:lstStyle/>
          <a:p>
            <a:pPr indent="0" marL="0">
              <a:buNone/>
            </a:pPr>
            <a:r>
              <a:rPr lang="en-US" sz="940" dirty="0">
                <a:solidFill>
                  <a:srgbClr val="FFFFFF"/>
                </a:solidFill>
                <a:latin typeface="Calibri" pitchFamily="34" charset="0"/>
                <a:ea typeface="Calibri" pitchFamily="34" charset="-122"/>
                <a:cs typeface="Calibri" pitchFamily="34" charset="-120"/>
              </a:rPr>
              <a:t>Moderate</a:t>
            </a:r>
            <a:endParaRPr lang="en-US" sz="940" dirty="0"/>
          </a:p>
        </p:txBody>
      </p:sp>
      <p:sp>
        <p:nvSpPr>
          <p:cNvPr id="49" name="Shape 47"/>
          <p:cNvSpPr/>
          <p:nvPr/>
        </p:nvSpPr>
        <p:spPr>
          <a:xfrm>
            <a:off x="3991539" y="6262908"/>
            <a:ext cx="869046" cy="305775"/>
          </a:xfrm>
          <a:prstGeom prst="roundRect">
            <a:avLst>
              <a:gd name="adj" fmla="val 23923"/>
            </a:avLst>
          </a:prstGeom>
          <a:solidFill>
            <a:srgbClr val="E07A5F"/>
          </a:solidFill>
          <a:ln w="12700">
            <a:solidFill>
              <a:srgbClr val="E07A5F"/>
            </a:solidFill>
            <a:prstDash val="solid"/>
          </a:ln>
        </p:spPr>
      </p:sp>
      <p:sp>
        <p:nvSpPr>
          <p:cNvPr id="50" name="Text 48"/>
          <p:cNvSpPr/>
          <p:nvPr/>
        </p:nvSpPr>
        <p:spPr>
          <a:xfrm>
            <a:off x="4101267" y="6372636"/>
            <a:ext cx="667878" cy="159471"/>
          </a:xfrm>
          <a:prstGeom prst="rect">
            <a:avLst/>
          </a:prstGeom>
          <a:noFill/>
          <a:ln/>
        </p:spPr>
        <p:txBody>
          <a:bodyPr wrap="square" lIns="254" tIns="254" rIns="254" bIns="254" rtlCol="0" anchor="t">
            <a:normAutofit/>
          </a:bodyPr>
          <a:lstStyle/>
          <a:p>
            <a:pPr indent="0" marL="0">
              <a:buNone/>
            </a:pPr>
            <a:r>
              <a:rPr lang="en-US" sz="940" dirty="0">
                <a:solidFill>
                  <a:srgbClr val="FFFFFF"/>
                </a:solidFill>
                <a:latin typeface="Calibri" pitchFamily="34" charset="0"/>
                <a:ea typeface="Calibri" pitchFamily="34" charset="-122"/>
                <a:cs typeface="Calibri" pitchFamily="34" charset="-120"/>
              </a:rPr>
              <a:t>Severe</a:t>
            </a:r>
            <a:endParaRPr lang="en-US" sz="940" dirty="0"/>
          </a:p>
        </p:txBody>
      </p:sp>
      <p:sp>
        <p:nvSpPr>
          <p:cNvPr id="51" name="Shape 49"/>
          <p:cNvSpPr/>
          <p:nvPr/>
        </p:nvSpPr>
        <p:spPr>
          <a:xfrm>
            <a:off x="4941052" y="6262908"/>
            <a:ext cx="869046" cy="305775"/>
          </a:xfrm>
          <a:prstGeom prst="roundRect">
            <a:avLst>
              <a:gd name="adj" fmla="val 23923"/>
            </a:avLst>
          </a:prstGeom>
          <a:solidFill>
            <a:srgbClr val="B22222"/>
          </a:solidFill>
          <a:ln w="12700">
            <a:solidFill>
              <a:srgbClr val="B22222"/>
            </a:solidFill>
            <a:prstDash val="solid"/>
          </a:ln>
        </p:spPr>
      </p:sp>
      <p:sp>
        <p:nvSpPr>
          <p:cNvPr id="52" name="Text 50"/>
          <p:cNvSpPr/>
          <p:nvPr/>
        </p:nvSpPr>
        <p:spPr>
          <a:xfrm>
            <a:off x="5050780" y="6372636"/>
            <a:ext cx="667878" cy="159471"/>
          </a:xfrm>
          <a:prstGeom prst="rect">
            <a:avLst/>
          </a:prstGeom>
          <a:noFill/>
          <a:ln/>
        </p:spPr>
        <p:txBody>
          <a:bodyPr wrap="square" lIns="254" tIns="254" rIns="254" bIns="254" rtlCol="0" anchor="t">
            <a:normAutofit/>
          </a:bodyPr>
          <a:lstStyle/>
          <a:p>
            <a:pPr indent="0" marL="0">
              <a:buNone/>
            </a:pPr>
            <a:r>
              <a:rPr lang="en-US" sz="940" dirty="0">
                <a:solidFill>
                  <a:srgbClr val="FFFFFF"/>
                </a:solidFill>
                <a:latin typeface="Calibri" pitchFamily="34" charset="0"/>
                <a:ea typeface="Calibri" pitchFamily="34" charset="-122"/>
                <a:cs typeface="Calibri" pitchFamily="34" charset="-120"/>
              </a:rPr>
              <a:t>PDR</a:t>
            </a:r>
            <a:endParaRPr lang="en-US" sz="940" dirty="0"/>
          </a:p>
        </p:txBody>
      </p:sp>
      <p:sp>
        <p:nvSpPr>
          <p:cNvPr id="53" name="Shape 51"/>
          <p:cNvSpPr/>
          <p:nvPr/>
        </p:nvSpPr>
        <p:spPr>
          <a:xfrm>
            <a:off x="7452360" y="5074920"/>
            <a:ext cx="3931920" cy="658368"/>
          </a:xfrm>
          <a:prstGeom prst="roundRect">
            <a:avLst>
              <a:gd name="adj" fmla="val 11111"/>
            </a:avLst>
          </a:prstGeom>
          <a:solidFill>
            <a:srgbClr val="F3FBF8"/>
          </a:solidFill>
          <a:ln w="12700">
            <a:solidFill>
              <a:srgbClr val="0E6B58"/>
            </a:solidFill>
            <a:prstDash val="solid"/>
          </a:ln>
        </p:spPr>
      </p:sp>
      <p:sp>
        <p:nvSpPr>
          <p:cNvPr id="54" name="Text 52"/>
          <p:cNvSpPr/>
          <p:nvPr/>
        </p:nvSpPr>
        <p:spPr>
          <a:xfrm>
            <a:off x="7562088" y="5184648"/>
            <a:ext cx="3730752" cy="512064"/>
          </a:xfrm>
          <a:prstGeom prst="rect">
            <a:avLst/>
          </a:prstGeom>
          <a:noFill/>
          <a:ln/>
        </p:spPr>
        <p:txBody>
          <a:bodyPr wrap="square" lIns="254" tIns="254" rIns="254" bIns="254" rtlCol="0" anchor="t">
            <a:normAutofit/>
          </a:bodyPr>
          <a:lstStyle/>
          <a:p>
            <a:pPr indent="0" marL="0">
              <a:buNone/>
            </a:pPr>
            <a:r>
              <a:rPr lang="en-US" sz="920" dirty="0">
                <a:solidFill>
                  <a:srgbClr val="0E6B58"/>
                </a:solidFill>
                <a:latin typeface="Calibri" pitchFamily="34" charset="0"/>
                <a:ea typeface="Calibri" pitchFamily="34" charset="-122"/>
                <a:cs typeface="Calibri" pitchFamily="34" charset="-120"/>
              </a:rPr>
              <a:t>Design note: PCA is applied only to AlexNet features (2048 → 512). Handcrafted features remain unchanged so their unique complementary information is preserved.</a:t>
            </a:r>
            <a:endParaRPr lang="en-US" sz="9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D1B4B"/>
          </a:solidFill>
          <a:ln w="12700">
            <a:solidFill>
              <a:srgbClr val="0D1B4B">
                <a:alpha val="0"/>
              </a:srgbClr>
            </a:solidFill>
            <a:prstDash val="solid"/>
          </a:ln>
        </p:spPr>
      </p:sp>
      <p:sp>
        <p:nvSpPr>
          <p:cNvPr id="3" name="Text 1"/>
          <p:cNvSpPr/>
          <p:nvPr/>
        </p:nvSpPr>
        <p:spPr>
          <a:xfrm>
            <a:off x="384048" y="146304"/>
            <a:ext cx="6583680" cy="23774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Pictorial Representation of the Process</a:t>
            </a:r>
            <a:endParaRPr lang="en-US" sz="2200" dirty="0"/>
          </a:p>
        </p:txBody>
      </p:sp>
      <p:sp>
        <p:nvSpPr>
          <p:cNvPr id="4" name="Text 2"/>
          <p:cNvSpPr/>
          <p:nvPr/>
        </p:nvSpPr>
        <p:spPr>
          <a:xfrm>
            <a:off x="384048" y="694944"/>
            <a:ext cx="10972800" cy="164592"/>
          </a:xfrm>
          <a:prstGeom prst="rect">
            <a:avLst/>
          </a:prstGeom>
          <a:noFill/>
          <a:ln/>
        </p:spPr>
        <p:txBody>
          <a:bodyPr wrap="square" lIns="0" tIns="0" rIns="0" bIns="0" rtlCol="0" anchor="ctr"/>
          <a:lstStyle/>
          <a:p>
            <a:pPr indent="0" marL="0">
              <a:buNone/>
            </a:pPr>
            <a:r>
              <a:rPr lang="en-US" sz="1050" i="1" dirty="0">
                <a:solidFill>
                  <a:srgbClr val="5B7DB1"/>
                </a:solidFill>
                <a:latin typeface="Calibri" pitchFamily="34" charset="0"/>
                <a:ea typeface="Calibri" pitchFamily="34" charset="-122"/>
                <a:cs typeface="Calibri" pitchFamily="34" charset="-120"/>
              </a:rPr>
              <a:t>Step-by-step walkthrough of all 7 pipeline stages</a:t>
            </a:r>
            <a:endParaRPr lang="en-US" sz="1050" dirty="0"/>
          </a:p>
        </p:txBody>
      </p:sp>
      <p:sp>
        <p:nvSpPr>
          <p:cNvPr id="5" name="Shape 3"/>
          <p:cNvSpPr/>
          <p:nvPr/>
        </p:nvSpPr>
        <p:spPr>
          <a:xfrm>
            <a:off x="0" y="6601968"/>
            <a:ext cx="12191695" cy="256032"/>
          </a:xfrm>
          <a:prstGeom prst="rect">
            <a:avLst/>
          </a:prstGeom>
          <a:solidFill>
            <a:srgbClr val="050D22"/>
          </a:solidFill>
          <a:ln w="12700">
            <a:solidFill>
              <a:srgbClr val="050D22">
                <a:alpha val="0"/>
              </a:srgbClr>
            </a:solidFill>
            <a:prstDash val="solid"/>
          </a:ln>
        </p:spPr>
      </p:sp>
      <p:sp>
        <p:nvSpPr>
          <p:cNvPr id="6" name="Text 4"/>
          <p:cNvSpPr/>
          <p:nvPr/>
        </p:nvSpPr>
        <p:spPr>
          <a:xfrm>
            <a:off x="411480" y="6656832"/>
            <a:ext cx="8503920" cy="109728"/>
          </a:xfrm>
          <a:prstGeom prst="rect">
            <a:avLst/>
          </a:prstGeom>
          <a:noFill/>
          <a:ln/>
        </p:spPr>
        <p:txBody>
          <a:bodyPr wrap="square" lIns="0" tIns="0" rIns="0" bIns="0" rtlCol="0" anchor="ctr"/>
          <a:lstStyle/>
          <a:p>
            <a:pPr indent="0" marL="0">
              <a:buNone/>
            </a:pPr>
            <a:r>
              <a:rPr lang="en-US" sz="750" dirty="0">
                <a:solidFill>
                  <a:srgbClr val="5B7DB1"/>
                </a:solidFill>
                <a:latin typeface="Calibri" pitchFamily="34" charset="0"/>
                <a:ea typeface="Calibri" pitchFamily="34" charset="-122"/>
                <a:cs typeface="Calibri" pitchFamily="34" charset="-120"/>
              </a:rPr>
              <a:t>Diabetic Retinopathy Detection Using Deep Learning | AlexNet + Handcrafted Features</a:t>
            </a:r>
            <a:endParaRPr lang="en-US" sz="750" dirty="0"/>
          </a:p>
        </p:txBody>
      </p:sp>
      <p:sp>
        <p:nvSpPr>
          <p:cNvPr id="7" name="Shape 5"/>
          <p:cNvSpPr/>
          <p:nvPr/>
        </p:nvSpPr>
        <p:spPr>
          <a:xfrm>
            <a:off x="475488" y="1005840"/>
            <a:ext cx="5468112" cy="1115568"/>
          </a:xfrm>
          <a:prstGeom prst="roundRect">
            <a:avLst>
              <a:gd name="adj" fmla="val 6557"/>
            </a:avLst>
          </a:prstGeom>
          <a:solidFill>
            <a:srgbClr val="FFFFFF"/>
          </a:solidFill>
          <a:ln w="12700">
            <a:solidFill>
              <a:srgbClr val="0E6B58"/>
            </a:solidFill>
            <a:prstDash val="solid"/>
          </a:ln>
          <a:effectLst>
            <a:outerShdw sx="100000" sy="100000" kx="0" ky="0" algn="bl" rotWithShape="0" blurRad="12700" dist="50800" dir="2700000">
              <a:srgbClr val="B7C3D7">
                <a:alpha val="15000"/>
              </a:srgbClr>
            </a:outerShdw>
          </a:effectLst>
        </p:spPr>
      </p:sp>
      <p:sp>
        <p:nvSpPr>
          <p:cNvPr id="8" name="Shape 6"/>
          <p:cNvSpPr/>
          <p:nvPr/>
        </p:nvSpPr>
        <p:spPr>
          <a:xfrm>
            <a:off x="594360" y="1115568"/>
            <a:ext cx="310896" cy="310896"/>
          </a:xfrm>
          <a:prstGeom prst="ellipse">
            <a:avLst/>
          </a:prstGeom>
          <a:solidFill>
            <a:srgbClr val="FFFFFF"/>
          </a:solidFill>
          <a:ln w="12700">
            <a:solidFill>
              <a:srgbClr val="0E6B58"/>
            </a:solidFill>
            <a:prstDash val="solid"/>
          </a:ln>
        </p:spPr>
      </p:sp>
      <p:sp>
        <p:nvSpPr>
          <p:cNvPr id="9" name="Text 7"/>
          <p:cNvSpPr/>
          <p:nvPr/>
        </p:nvSpPr>
        <p:spPr>
          <a:xfrm>
            <a:off x="594360" y="1165860"/>
            <a:ext cx="310896" cy="128016"/>
          </a:xfrm>
          <a:prstGeom prst="rect">
            <a:avLst/>
          </a:prstGeom>
          <a:noFill/>
          <a:ln/>
        </p:spPr>
        <p:txBody>
          <a:bodyPr wrap="square" lIns="0" tIns="0" rIns="0" bIns="0" rtlCol="0" anchor="ctr"/>
          <a:lstStyle/>
          <a:p>
            <a:pPr algn="ctr" indent="0" marL="0">
              <a:buNone/>
            </a:pPr>
            <a:r>
              <a:rPr lang="en-US" sz="1200" b="1" dirty="0">
                <a:solidFill>
                  <a:srgbClr val="0E6B58"/>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024128" y="1097280"/>
            <a:ext cx="4663440" cy="146304"/>
          </a:xfrm>
          <a:prstGeom prst="rect">
            <a:avLst/>
          </a:prstGeom>
          <a:noFill/>
          <a:ln/>
        </p:spPr>
        <p:txBody>
          <a:bodyPr wrap="square" lIns="0" tIns="0" rIns="0" bIns="0" rtlCol="0" anchor="ctr"/>
          <a:lstStyle/>
          <a:p>
            <a:pPr indent="0" marL="0">
              <a:buNone/>
            </a:pPr>
            <a:r>
              <a:rPr lang="en-US" sz="1180" b="1" dirty="0">
                <a:solidFill>
                  <a:srgbClr val="0E6B58"/>
                </a:solidFill>
                <a:latin typeface="Calibri" pitchFamily="34" charset="0"/>
                <a:ea typeface="Calibri" pitchFamily="34" charset="-122"/>
                <a:cs typeface="Calibri" pitchFamily="34" charset="-120"/>
              </a:rPr>
              <a:t>Image Acquisition</a:t>
            </a:r>
            <a:endParaRPr lang="en-US" sz="1180" dirty="0"/>
          </a:p>
        </p:txBody>
      </p:sp>
      <p:sp>
        <p:nvSpPr>
          <p:cNvPr id="11" name="Text 9"/>
          <p:cNvSpPr/>
          <p:nvPr/>
        </p:nvSpPr>
        <p:spPr>
          <a:xfrm>
            <a:off x="603504" y="1389888"/>
            <a:ext cx="5138928" cy="548640"/>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Fundus images are collected from Kaggle EyePACS, balanced to 12,413 samples, resized to 227×227×3, and split into train and test sets.</a:t>
            </a:r>
            <a:endParaRPr lang="en-US" sz="980" dirty="0"/>
          </a:p>
        </p:txBody>
      </p:sp>
      <p:sp>
        <p:nvSpPr>
          <p:cNvPr id="12" name="Shape 10"/>
          <p:cNvSpPr/>
          <p:nvPr/>
        </p:nvSpPr>
        <p:spPr>
          <a:xfrm>
            <a:off x="6163056" y="1005840"/>
            <a:ext cx="5468112" cy="1115568"/>
          </a:xfrm>
          <a:prstGeom prst="roundRect">
            <a:avLst>
              <a:gd name="adj" fmla="val 6557"/>
            </a:avLst>
          </a:prstGeom>
          <a:solidFill>
            <a:srgbClr val="FFFFFF"/>
          </a:solidFill>
          <a:ln w="12700">
            <a:solidFill>
              <a:srgbClr val="4A3580"/>
            </a:solidFill>
            <a:prstDash val="solid"/>
          </a:ln>
          <a:effectLst>
            <a:outerShdw sx="100000" sy="100000" kx="0" ky="0" algn="bl" rotWithShape="0" blurRad="12700" dist="50800" dir="2700000">
              <a:srgbClr val="B7C3D7">
                <a:alpha val="15000"/>
              </a:srgbClr>
            </a:outerShdw>
          </a:effectLst>
        </p:spPr>
      </p:sp>
      <p:sp>
        <p:nvSpPr>
          <p:cNvPr id="13" name="Shape 11"/>
          <p:cNvSpPr/>
          <p:nvPr/>
        </p:nvSpPr>
        <p:spPr>
          <a:xfrm>
            <a:off x="6281928" y="1115568"/>
            <a:ext cx="310896" cy="310896"/>
          </a:xfrm>
          <a:prstGeom prst="ellipse">
            <a:avLst/>
          </a:prstGeom>
          <a:solidFill>
            <a:srgbClr val="FFFFFF"/>
          </a:solidFill>
          <a:ln w="12700">
            <a:solidFill>
              <a:srgbClr val="4A3580"/>
            </a:solidFill>
            <a:prstDash val="solid"/>
          </a:ln>
        </p:spPr>
      </p:sp>
      <p:sp>
        <p:nvSpPr>
          <p:cNvPr id="14" name="Text 12"/>
          <p:cNvSpPr/>
          <p:nvPr/>
        </p:nvSpPr>
        <p:spPr>
          <a:xfrm>
            <a:off x="6281928" y="1165860"/>
            <a:ext cx="310896" cy="128016"/>
          </a:xfrm>
          <a:prstGeom prst="rect">
            <a:avLst/>
          </a:prstGeom>
          <a:noFill/>
          <a:ln/>
        </p:spPr>
        <p:txBody>
          <a:bodyPr wrap="square" lIns="0" tIns="0" rIns="0" bIns="0" rtlCol="0" anchor="ctr"/>
          <a:lstStyle/>
          <a:p>
            <a:pPr algn="ctr" indent="0" marL="0">
              <a:buNone/>
            </a:pPr>
            <a:r>
              <a:rPr lang="en-US" sz="1200" b="1" dirty="0">
                <a:solidFill>
                  <a:srgbClr val="4A3580"/>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6711696" y="1097280"/>
            <a:ext cx="4663440" cy="146304"/>
          </a:xfrm>
          <a:prstGeom prst="rect">
            <a:avLst/>
          </a:prstGeom>
          <a:noFill/>
          <a:ln/>
        </p:spPr>
        <p:txBody>
          <a:bodyPr wrap="square" lIns="0" tIns="0" rIns="0" bIns="0" rtlCol="0" anchor="ctr"/>
          <a:lstStyle/>
          <a:p>
            <a:pPr indent="0" marL="0">
              <a:buNone/>
            </a:pPr>
            <a:r>
              <a:rPr lang="en-US" sz="1180" b="1" dirty="0">
                <a:solidFill>
                  <a:srgbClr val="4A3580"/>
                </a:solidFill>
                <a:latin typeface="Calibri" pitchFamily="34" charset="0"/>
                <a:ea typeface="Calibri" pitchFamily="34" charset="-122"/>
                <a:cs typeface="Calibri" pitchFamily="34" charset="-120"/>
              </a:rPr>
              <a:t>Image Preprocessing</a:t>
            </a:r>
            <a:endParaRPr lang="en-US" sz="1180" dirty="0"/>
          </a:p>
        </p:txBody>
      </p:sp>
      <p:sp>
        <p:nvSpPr>
          <p:cNvPr id="16" name="Text 14"/>
          <p:cNvSpPr/>
          <p:nvPr/>
        </p:nvSpPr>
        <p:spPr>
          <a:xfrm>
            <a:off x="6291072" y="1389888"/>
            <a:ext cx="5138928" cy="548640"/>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Average filtering removes artifacts and CLAHE boosts local contrast, making vessels, microaneurysms, and exudates more visible.</a:t>
            </a:r>
            <a:endParaRPr lang="en-US" sz="980" dirty="0"/>
          </a:p>
        </p:txBody>
      </p:sp>
      <p:sp>
        <p:nvSpPr>
          <p:cNvPr id="17" name="Shape 15"/>
          <p:cNvSpPr/>
          <p:nvPr/>
        </p:nvSpPr>
        <p:spPr>
          <a:xfrm>
            <a:off x="475488" y="2395728"/>
            <a:ext cx="5468112" cy="1115568"/>
          </a:xfrm>
          <a:prstGeom prst="roundRect">
            <a:avLst>
              <a:gd name="adj" fmla="val 6557"/>
            </a:avLst>
          </a:prstGeom>
          <a:solidFill>
            <a:srgbClr val="FFFFFF"/>
          </a:solidFill>
          <a:ln w="12700">
            <a:solidFill>
              <a:srgbClr val="1A4FA0"/>
            </a:solidFill>
            <a:prstDash val="solid"/>
          </a:ln>
          <a:effectLst>
            <a:outerShdw sx="100000" sy="100000" kx="0" ky="0" algn="bl" rotWithShape="0" blurRad="12700" dist="50800" dir="2700000">
              <a:srgbClr val="B7C3D7">
                <a:alpha val="15000"/>
              </a:srgbClr>
            </a:outerShdw>
          </a:effectLst>
        </p:spPr>
      </p:sp>
      <p:sp>
        <p:nvSpPr>
          <p:cNvPr id="18" name="Shape 16"/>
          <p:cNvSpPr/>
          <p:nvPr/>
        </p:nvSpPr>
        <p:spPr>
          <a:xfrm>
            <a:off x="594360" y="2505456"/>
            <a:ext cx="310896" cy="310896"/>
          </a:xfrm>
          <a:prstGeom prst="ellipse">
            <a:avLst/>
          </a:prstGeom>
          <a:solidFill>
            <a:srgbClr val="FFFFFF"/>
          </a:solidFill>
          <a:ln w="12700">
            <a:solidFill>
              <a:srgbClr val="1A4FA0"/>
            </a:solidFill>
            <a:prstDash val="solid"/>
          </a:ln>
        </p:spPr>
      </p:sp>
      <p:sp>
        <p:nvSpPr>
          <p:cNvPr id="19" name="Text 17"/>
          <p:cNvSpPr/>
          <p:nvPr/>
        </p:nvSpPr>
        <p:spPr>
          <a:xfrm>
            <a:off x="594360" y="2555748"/>
            <a:ext cx="310896" cy="128016"/>
          </a:xfrm>
          <a:prstGeom prst="rect">
            <a:avLst/>
          </a:prstGeom>
          <a:noFill/>
          <a:ln/>
        </p:spPr>
        <p:txBody>
          <a:bodyPr wrap="square" lIns="0" tIns="0" rIns="0" bIns="0" rtlCol="0" anchor="ctr"/>
          <a:lstStyle/>
          <a:p>
            <a:pPr algn="ctr" indent="0" marL="0">
              <a:buNone/>
            </a:pPr>
            <a:r>
              <a:rPr lang="en-US" sz="1200" b="1" dirty="0">
                <a:solidFill>
                  <a:srgbClr val="1A4FA0"/>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024128" y="2487168"/>
            <a:ext cx="4663440" cy="146304"/>
          </a:xfrm>
          <a:prstGeom prst="rect">
            <a:avLst/>
          </a:prstGeom>
          <a:noFill/>
          <a:ln/>
        </p:spPr>
        <p:txBody>
          <a:bodyPr wrap="square" lIns="0" tIns="0" rIns="0" bIns="0" rtlCol="0" anchor="ctr"/>
          <a:lstStyle/>
          <a:p>
            <a:pPr indent="0" marL="0">
              <a:buNone/>
            </a:pPr>
            <a:r>
              <a:rPr lang="en-US" sz="1180" b="1" dirty="0">
                <a:solidFill>
                  <a:srgbClr val="1A4FA0"/>
                </a:solidFill>
                <a:latin typeface="Calibri" pitchFamily="34" charset="0"/>
                <a:ea typeface="Calibri" pitchFamily="34" charset="-122"/>
                <a:cs typeface="Calibri" pitchFamily="34" charset="-120"/>
              </a:rPr>
              <a:t>AlexNet Deep Features</a:t>
            </a:r>
            <a:endParaRPr lang="en-US" sz="1180" dirty="0"/>
          </a:p>
        </p:txBody>
      </p:sp>
      <p:sp>
        <p:nvSpPr>
          <p:cNvPr id="21" name="Text 19"/>
          <p:cNvSpPr/>
          <p:nvPr/>
        </p:nvSpPr>
        <p:spPr>
          <a:xfrm>
            <a:off x="603504" y="2779776"/>
            <a:ext cx="5138928" cy="548640"/>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AlexNet extracts a 2048-dimensional representation that captures structural and semantic retinal patterns.</a:t>
            </a:r>
            <a:endParaRPr lang="en-US" sz="980" dirty="0"/>
          </a:p>
        </p:txBody>
      </p:sp>
      <p:sp>
        <p:nvSpPr>
          <p:cNvPr id="22" name="Shape 20"/>
          <p:cNvSpPr/>
          <p:nvPr/>
        </p:nvSpPr>
        <p:spPr>
          <a:xfrm>
            <a:off x="6163056" y="2395728"/>
            <a:ext cx="5468112" cy="1115568"/>
          </a:xfrm>
          <a:prstGeom prst="roundRect">
            <a:avLst>
              <a:gd name="adj" fmla="val 6557"/>
            </a:avLst>
          </a:prstGeom>
          <a:solidFill>
            <a:srgbClr val="FFFFFF"/>
          </a:solidFill>
          <a:ln w="12700">
            <a:solidFill>
              <a:srgbClr val="3A3A4A"/>
            </a:solidFill>
            <a:prstDash val="solid"/>
          </a:ln>
          <a:effectLst>
            <a:outerShdw sx="100000" sy="100000" kx="0" ky="0" algn="bl" rotWithShape="0" blurRad="12700" dist="50800" dir="2700000">
              <a:srgbClr val="B7C3D7">
                <a:alpha val="15000"/>
              </a:srgbClr>
            </a:outerShdw>
          </a:effectLst>
        </p:spPr>
      </p:sp>
      <p:sp>
        <p:nvSpPr>
          <p:cNvPr id="23" name="Shape 21"/>
          <p:cNvSpPr/>
          <p:nvPr/>
        </p:nvSpPr>
        <p:spPr>
          <a:xfrm>
            <a:off x="6281928" y="2505456"/>
            <a:ext cx="310896" cy="310896"/>
          </a:xfrm>
          <a:prstGeom prst="ellipse">
            <a:avLst/>
          </a:prstGeom>
          <a:solidFill>
            <a:srgbClr val="FFFFFF"/>
          </a:solidFill>
          <a:ln w="12700">
            <a:solidFill>
              <a:srgbClr val="3A3A4A"/>
            </a:solidFill>
            <a:prstDash val="solid"/>
          </a:ln>
        </p:spPr>
      </p:sp>
      <p:sp>
        <p:nvSpPr>
          <p:cNvPr id="24" name="Text 22"/>
          <p:cNvSpPr/>
          <p:nvPr/>
        </p:nvSpPr>
        <p:spPr>
          <a:xfrm>
            <a:off x="6281928" y="2555748"/>
            <a:ext cx="310896" cy="128016"/>
          </a:xfrm>
          <a:prstGeom prst="rect">
            <a:avLst/>
          </a:prstGeom>
          <a:noFill/>
          <a:ln/>
        </p:spPr>
        <p:txBody>
          <a:bodyPr wrap="square" lIns="0" tIns="0" rIns="0" bIns="0" rtlCol="0" anchor="ctr"/>
          <a:lstStyle/>
          <a:p>
            <a:pPr algn="ctr" indent="0" marL="0">
              <a:buNone/>
            </a:pPr>
            <a:r>
              <a:rPr lang="en-US" sz="1200" b="1" dirty="0">
                <a:solidFill>
                  <a:srgbClr val="3A3A4A"/>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6711696" y="2487168"/>
            <a:ext cx="4663440" cy="146304"/>
          </a:xfrm>
          <a:prstGeom prst="rect">
            <a:avLst/>
          </a:prstGeom>
          <a:noFill/>
          <a:ln/>
        </p:spPr>
        <p:txBody>
          <a:bodyPr wrap="square" lIns="0" tIns="0" rIns="0" bIns="0" rtlCol="0" anchor="ctr"/>
          <a:lstStyle/>
          <a:p>
            <a:pPr indent="0" marL="0">
              <a:buNone/>
            </a:pPr>
            <a:r>
              <a:rPr lang="en-US" sz="1180" b="1" dirty="0">
                <a:solidFill>
                  <a:srgbClr val="3A3A4A"/>
                </a:solidFill>
                <a:latin typeface="Calibri" pitchFamily="34" charset="0"/>
                <a:ea typeface="Calibri" pitchFamily="34" charset="-122"/>
                <a:cs typeface="Calibri" pitchFamily="34" charset="-120"/>
              </a:rPr>
              <a:t>PCA Reduction</a:t>
            </a:r>
            <a:endParaRPr lang="en-US" sz="1180" dirty="0"/>
          </a:p>
        </p:txBody>
      </p:sp>
      <p:sp>
        <p:nvSpPr>
          <p:cNvPr id="26" name="Text 24"/>
          <p:cNvSpPr/>
          <p:nvPr/>
        </p:nvSpPr>
        <p:spPr>
          <a:xfrm>
            <a:off x="6291072" y="2779776"/>
            <a:ext cx="5138928" cy="548640"/>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The AlexNet vector is reduced from 2048 to 512 features while keeping the dominant variance and reducing redundancy.</a:t>
            </a:r>
            <a:endParaRPr lang="en-US" sz="980" dirty="0"/>
          </a:p>
        </p:txBody>
      </p:sp>
      <p:sp>
        <p:nvSpPr>
          <p:cNvPr id="27" name="Shape 25"/>
          <p:cNvSpPr/>
          <p:nvPr/>
        </p:nvSpPr>
        <p:spPr>
          <a:xfrm>
            <a:off x="475488" y="3785616"/>
            <a:ext cx="5468112" cy="1115568"/>
          </a:xfrm>
          <a:prstGeom prst="roundRect">
            <a:avLst>
              <a:gd name="adj" fmla="val 6557"/>
            </a:avLst>
          </a:prstGeom>
          <a:solidFill>
            <a:srgbClr val="FFFFFF"/>
          </a:solidFill>
          <a:ln w="12700">
            <a:solidFill>
              <a:srgbClr val="7A4A10"/>
            </a:solidFill>
            <a:prstDash val="solid"/>
          </a:ln>
          <a:effectLst>
            <a:outerShdw sx="100000" sy="100000" kx="0" ky="0" algn="bl" rotWithShape="0" blurRad="12700" dist="50800" dir="2700000">
              <a:srgbClr val="B7C3D7">
                <a:alpha val="15000"/>
              </a:srgbClr>
            </a:outerShdw>
          </a:effectLst>
        </p:spPr>
      </p:sp>
      <p:sp>
        <p:nvSpPr>
          <p:cNvPr id="28" name="Shape 26"/>
          <p:cNvSpPr/>
          <p:nvPr/>
        </p:nvSpPr>
        <p:spPr>
          <a:xfrm>
            <a:off x="594360" y="3895344"/>
            <a:ext cx="310896" cy="310896"/>
          </a:xfrm>
          <a:prstGeom prst="ellipse">
            <a:avLst/>
          </a:prstGeom>
          <a:solidFill>
            <a:srgbClr val="FFFFFF"/>
          </a:solidFill>
          <a:ln w="12700">
            <a:solidFill>
              <a:srgbClr val="7A4A10"/>
            </a:solidFill>
            <a:prstDash val="solid"/>
          </a:ln>
        </p:spPr>
      </p:sp>
      <p:sp>
        <p:nvSpPr>
          <p:cNvPr id="29" name="Text 27"/>
          <p:cNvSpPr/>
          <p:nvPr/>
        </p:nvSpPr>
        <p:spPr>
          <a:xfrm>
            <a:off x="594360" y="3945636"/>
            <a:ext cx="310896" cy="128016"/>
          </a:xfrm>
          <a:prstGeom prst="rect">
            <a:avLst/>
          </a:prstGeom>
          <a:noFill/>
          <a:ln/>
        </p:spPr>
        <p:txBody>
          <a:bodyPr wrap="square" lIns="0" tIns="0" rIns="0" bIns="0" rtlCol="0" anchor="ctr"/>
          <a:lstStyle/>
          <a:p>
            <a:pPr algn="ctr" indent="0" marL="0">
              <a:buNone/>
            </a:pPr>
            <a:r>
              <a:rPr lang="en-US" sz="1200" b="1" dirty="0">
                <a:solidFill>
                  <a:srgbClr val="7A4A10"/>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1024128" y="3877056"/>
            <a:ext cx="4663440" cy="146304"/>
          </a:xfrm>
          <a:prstGeom prst="rect">
            <a:avLst/>
          </a:prstGeom>
          <a:noFill/>
          <a:ln/>
        </p:spPr>
        <p:txBody>
          <a:bodyPr wrap="square" lIns="0" tIns="0" rIns="0" bIns="0" rtlCol="0" anchor="ctr"/>
          <a:lstStyle/>
          <a:p>
            <a:pPr indent="0" marL="0">
              <a:buNone/>
            </a:pPr>
            <a:r>
              <a:rPr lang="en-US" sz="1180" b="1" dirty="0">
                <a:solidFill>
                  <a:srgbClr val="7A4A10"/>
                </a:solidFill>
                <a:latin typeface="Calibri" pitchFamily="34" charset="0"/>
                <a:ea typeface="Calibri" pitchFamily="34" charset="-122"/>
                <a:cs typeface="Calibri" pitchFamily="34" charset="-120"/>
              </a:rPr>
              <a:t>Handcrafted Features</a:t>
            </a:r>
            <a:endParaRPr lang="en-US" sz="1180" dirty="0"/>
          </a:p>
        </p:txBody>
      </p:sp>
      <p:sp>
        <p:nvSpPr>
          <p:cNvPr id="31" name="Text 29"/>
          <p:cNvSpPr/>
          <p:nvPr/>
        </p:nvSpPr>
        <p:spPr>
          <a:xfrm>
            <a:off x="603504" y="4169664"/>
            <a:ext cx="5138928" cy="548640"/>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DWT, LBP, FCH, and GLCM capture lesion texture, colour distribution, and spatial relationships, giving 244 compact features.</a:t>
            </a:r>
            <a:endParaRPr lang="en-US" sz="980" dirty="0"/>
          </a:p>
        </p:txBody>
      </p:sp>
      <p:sp>
        <p:nvSpPr>
          <p:cNvPr id="32" name="Shape 30"/>
          <p:cNvSpPr/>
          <p:nvPr/>
        </p:nvSpPr>
        <p:spPr>
          <a:xfrm>
            <a:off x="6163056" y="3785616"/>
            <a:ext cx="5468112" cy="1115568"/>
          </a:xfrm>
          <a:prstGeom prst="roundRect">
            <a:avLst>
              <a:gd name="adj" fmla="val 6557"/>
            </a:avLst>
          </a:prstGeom>
          <a:solidFill>
            <a:srgbClr val="FFFFFF"/>
          </a:solidFill>
          <a:ln w="12700">
            <a:solidFill>
              <a:srgbClr val="7A1A1A"/>
            </a:solidFill>
            <a:prstDash val="solid"/>
          </a:ln>
          <a:effectLst>
            <a:outerShdw sx="100000" sy="100000" kx="0" ky="0" algn="bl" rotWithShape="0" blurRad="12700" dist="50800" dir="2700000">
              <a:srgbClr val="B7C3D7">
                <a:alpha val="15000"/>
              </a:srgbClr>
            </a:outerShdw>
          </a:effectLst>
        </p:spPr>
      </p:sp>
      <p:sp>
        <p:nvSpPr>
          <p:cNvPr id="33" name="Shape 31"/>
          <p:cNvSpPr/>
          <p:nvPr/>
        </p:nvSpPr>
        <p:spPr>
          <a:xfrm>
            <a:off x="6281928" y="3895344"/>
            <a:ext cx="310896" cy="310896"/>
          </a:xfrm>
          <a:prstGeom prst="ellipse">
            <a:avLst/>
          </a:prstGeom>
          <a:solidFill>
            <a:srgbClr val="FFFFFF"/>
          </a:solidFill>
          <a:ln w="12700">
            <a:solidFill>
              <a:srgbClr val="7A1A1A"/>
            </a:solidFill>
            <a:prstDash val="solid"/>
          </a:ln>
        </p:spPr>
      </p:sp>
      <p:sp>
        <p:nvSpPr>
          <p:cNvPr id="34" name="Text 32"/>
          <p:cNvSpPr/>
          <p:nvPr/>
        </p:nvSpPr>
        <p:spPr>
          <a:xfrm>
            <a:off x="6281928" y="3945636"/>
            <a:ext cx="310896" cy="128016"/>
          </a:xfrm>
          <a:prstGeom prst="rect">
            <a:avLst/>
          </a:prstGeom>
          <a:noFill/>
          <a:ln/>
        </p:spPr>
        <p:txBody>
          <a:bodyPr wrap="square" lIns="0" tIns="0" rIns="0" bIns="0" rtlCol="0" anchor="ctr"/>
          <a:lstStyle/>
          <a:p>
            <a:pPr algn="ctr" indent="0" marL="0">
              <a:buNone/>
            </a:pPr>
            <a:r>
              <a:rPr lang="en-US" sz="1200" b="1" dirty="0">
                <a:solidFill>
                  <a:srgbClr val="7A1A1A"/>
                </a:solidFill>
                <a:latin typeface="Calibri" pitchFamily="34" charset="0"/>
                <a:ea typeface="Calibri" pitchFamily="34" charset="-122"/>
                <a:cs typeface="Calibri" pitchFamily="34" charset="-120"/>
              </a:rPr>
              <a:t>6</a:t>
            </a:r>
            <a:endParaRPr lang="en-US" sz="1200" dirty="0"/>
          </a:p>
        </p:txBody>
      </p:sp>
      <p:sp>
        <p:nvSpPr>
          <p:cNvPr id="35" name="Text 33"/>
          <p:cNvSpPr/>
          <p:nvPr/>
        </p:nvSpPr>
        <p:spPr>
          <a:xfrm>
            <a:off x="6711696" y="3877056"/>
            <a:ext cx="4663440" cy="146304"/>
          </a:xfrm>
          <a:prstGeom prst="rect">
            <a:avLst/>
          </a:prstGeom>
          <a:noFill/>
          <a:ln/>
        </p:spPr>
        <p:txBody>
          <a:bodyPr wrap="square" lIns="0" tIns="0" rIns="0" bIns="0" rtlCol="0" anchor="ctr"/>
          <a:lstStyle/>
          <a:p>
            <a:pPr indent="0" marL="0">
              <a:buNone/>
            </a:pPr>
            <a:r>
              <a:rPr lang="en-US" sz="1180" b="1" dirty="0">
                <a:solidFill>
                  <a:srgbClr val="7A1A1A"/>
                </a:solidFill>
                <a:latin typeface="Calibri" pitchFamily="34" charset="0"/>
                <a:ea typeface="Calibri" pitchFamily="34" charset="-122"/>
                <a:cs typeface="Calibri" pitchFamily="34" charset="-120"/>
              </a:rPr>
              <a:t>Radiomic Fusion</a:t>
            </a:r>
            <a:endParaRPr lang="en-US" sz="1180" dirty="0"/>
          </a:p>
        </p:txBody>
      </p:sp>
      <p:sp>
        <p:nvSpPr>
          <p:cNvPr id="36" name="Text 34"/>
          <p:cNvSpPr/>
          <p:nvPr/>
        </p:nvSpPr>
        <p:spPr>
          <a:xfrm>
            <a:off x="6291072" y="4169664"/>
            <a:ext cx="5138928" cy="548640"/>
          </a:xfrm>
          <a:prstGeom prst="rect">
            <a:avLst/>
          </a:prstGeom>
          <a:noFill/>
          <a:ln/>
        </p:spPr>
        <p:txBody>
          <a:bodyPr wrap="square" lIns="0" tIns="0" rIns="0" bIns="0" rtlCol="0" anchor="ctr">
            <a:normAutofit/>
          </a:bodyPr>
          <a:lstStyle/>
          <a:p>
            <a:pPr indent="0" marL="0">
              <a:buNone/>
            </a:pPr>
            <a:r>
              <a:rPr lang="en-US" sz="980" dirty="0">
                <a:solidFill>
                  <a:srgbClr val="1E293B"/>
                </a:solidFill>
                <a:latin typeface="Calibri" pitchFamily="34" charset="0"/>
                <a:ea typeface="Calibri" pitchFamily="34" charset="-122"/>
                <a:cs typeface="Calibri" pitchFamily="34" charset="-120"/>
              </a:rPr>
              <a:t>The reduced deep features and handcrafted features are concatenated into one 756-dimensional radiomic vector.</a:t>
            </a:r>
            <a:endParaRPr lang="en-US" sz="980" dirty="0"/>
          </a:p>
        </p:txBody>
      </p:sp>
      <p:sp>
        <p:nvSpPr>
          <p:cNvPr id="37" name="Shape 35"/>
          <p:cNvSpPr/>
          <p:nvPr/>
        </p:nvSpPr>
        <p:spPr>
          <a:xfrm>
            <a:off x="502920" y="5266944"/>
            <a:ext cx="11228832" cy="786384"/>
          </a:xfrm>
          <a:prstGeom prst="roundRect">
            <a:avLst>
              <a:gd name="adj" fmla="val 9302"/>
            </a:avLst>
          </a:prstGeom>
          <a:solidFill>
            <a:srgbClr val="0D1B4B"/>
          </a:solidFill>
          <a:ln w="12700">
            <a:solidFill>
              <a:srgbClr val="0D1B4B"/>
            </a:solidFill>
            <a:prstDash val="solid"/>
          </a:ln>
        </p:spPr>
      </p:sp>
      <p:sp>
        <p:nvSpPr>
          <p:cNvPr id="38" name="Shape 36"/>
          <p:cNvSpPr/>
          <p:nvPr/>
        </p:nvSpPr>
        <p:spPr>
          <a:xfrm>
            <a:off x="502920" y="5266944"/>
            <a:ext cx="11228832" cy="310896"/>
          </a:xfrm>
          <a:prstGeom prst="roundRect">
            <a:avLst>
              <a:gd name="adj" fmla="val 23529"/>
            </a:avLst>
          </a:prstGeom>
          <a:solidFill>
            <a:srgbClr val="0D1B4B"/>
          </a:solidFill>
          <a:ln w="12700">
            <a:solidFill>
              <a:srgbClr val="0D1B4B">
                <a:alpha val="0"/>
              </a:srgbClr>
            </a:solidFill>
            <a:prstDash val="solid"/>
          </a:ln>
        </p:spPr>
      </p:sp>
      <p:sp>
        <p:nvSpPr>
          <p:cNvPr id="39" name="Text 37"/>
          <p:cNvSpPr/>
          <p:nvPr/>
        </p:nvSpPr>
        <p:spPr>
          <a:xfrm>
            <a:off x="612648" y="5330952"/>
            <a:ext cx="11009376" cy="16459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7 — ANN Classification</a:t>
            </a:r>
            <a:endParaRPr lang="en-US" sz="1200" dirty="0"/>
          </a:p>
        </p:txBody>
      </p:sp>
      <p:sp>
        <p:nvSpPr>
          <p:cNvPr id="40" name="Text 38"/>
          <p:cNvSpPr/>
          <p:nvPr/>
        </p:nvSpPr>
        <p:spPr>
          <a:xfrm>
            <a:off x="612648" y="5669280"/>
            <a:ext cx="11027664" cy="329184"/>
          </a:xfrm>
          <a:prstGeom prst="rect">
            <a:avLst/>
          </a:prstGeom>
          <a:noFill/>
          <a:ln/>
        </p:spPr>
        <p:txBody>
          <a:bodyPr wrap="square" lIns="254" tIns="254" rIns="254" bIns="254" rtlCol="0" anchor="t">
            <a:normAutofit/>
          </a:bodyPr>
          <a:lstStyle/>
          <a:p>
            <a:pPr indent="0" marL="0">
              <a:buNone/>
            </a:pPr>
            <a:r>
              <a:rPr lang="en-US" sz="1020" dirty="0">
                <a:solidFill>
                  <a:srgbClr val="FFFFFF"/>
                </a:solidFill>
                <a:latin typeface="Calibri" pitchFamily="34" charset="0"/>
                <a:ea typeface="Calibri" pitchFamily="34" charset="-122"/>
                <a:cs typeface="Calibri" pitchFamily="34" charset="-120"/>
              </a:rPr>
              <a:t>The 756-dimensional radiomic vector is fed into an ANN with 12 hidden layers. Softmax produces a 5-class probability distribution, and the highest-probability class is reported as the final DR stage prediction.</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D1B4B"/>
          </a:solidFill>
          <a:ln w="12700">
            <a:solidFill>
              <a:srgbClr val="0D1B4B">
                <a:alpha val="0"/>
              </a:srgbClr>
            </a:solidFill>
            <a:prstDash val="solid"/>
          </a:ln>
        </p:spPr>
      </p:sp>
      <p:sp>
        <p:nvSpPr>
          <p:cNvPr id="3" name="Text 1"/>
          <p:cNvSpPr/>
          <p:nvPr/>
        </p:nvSpPr>
        <p:spPr>
          <a:xfrm>
            <a:off x="384048" y="146304"/>
            <a:ext cx="6583680" cy="23774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Correlation Between Algorithm and Process</a:t>
            </a:r>
            <a:endParaRPr lang="en-US" sz="2200" dirty="0"/>
          </a:p>
        </p:txBody>
      </p:sp>
      <p:sp>
        <p:nvSpPr>
          <p:cNvPr id="4" name="Text 2"/>
          <p:cNvSpPr/>
          <p:nvPr/>
        </p:nvSpPr>
        <p:spPr>
          <a:xfrm>
            <a:off x="384048" y="694944"/>
            <a:ext cx="10972800" cy="164592"/>
          </a:xfrm>
          <a:prstGeom prst="rect">
            <a:avLst/>
          </a:prstGeom>
          <a:noFill/>
          <a:ln/>
        </p:spPr>
        <p:txBody>
          <a:bodyPr wrap="square" lIns="0" tIns="0" rIns="0" bIns="0" rtlCol="0" anchor="ctr"/>
          <a:lstStyle/>
          <a:p>
            <a:pPr indent="0" marL="0">
              <a:buNone/>
            </a:pPr>
            <a:r>
              <a:rPr lang="en-US" sz="1050" i="1" dirty="0">
                <a:solidFill>
                  <a:srgbClr val="5B7DB1"/>
                </a:solidFill>
                <a:latin typeface="Calibri" pitchFamily="34" charset="0"/>
                <a:ea typeface="Calibri" pitchFamily="34" charset="-122"/>
                <a:cs typeface="Calibri" pitchFamily="34" charset="-120"/>
              </a:rPr>
              <a:t>How every algorithm maps to its pipeline stage, solves a specific problem and feeds the next stage</a:t>
            </a:r>
            <a:endParaRPr lang="en-US" sz="1050" dirty="0"/>
          </a:p>
        </p:txBody>
      </p:sp>
      <p:sp>
        <p:nvSpPr>
          <p:cNvPr id="5" name="Shape 3"/>
          <p:cNvSpPr/>
          <p:nvPr/>
        </p:nvSpPr>
        <p:spPr>
          <a:xfrm>
            <a:off x="0" y="6601968"/>
            <a:ext cx="12191695" cy="256032"/>
          </a:xfrm>
          <a:prstGeom prst="rect">
            <a:avLst/>
          </a:prstGeom>
          <a:solidFill>
            <a:srgbClr val="050D22"/>
          </a:solidFill>
          <a:ln w="12700">
            <a:solidFill>
              <a:srgbClr val="050D22">
                <a:alpha val="0"/>
              </a:srgbClr>
            </a:solidFill>
            <a:prstDash val="solid"/>
          </a:ln>
        </p:spPr>
      </p:sp>
      <p:sp>
        <p:nvSpPr>
          <p:cNvPr id="6" name="Text 4"/>
          <p:cNvSpPr/>
          <p:nvPr/>
        </p:nvSpPr>
        <p:spPr>
          <a:xfrm>
            <a:off x="411480" y="6656832"/>
            <a:ext cx="8503920" cy="109728"/>
          </a:xfrm>
          <a:prstGeom prst="rect">
            <a:avLst/>
          </a:prstGeom>
          <a:noFill/>
          <a:ln/>
        </p:spPr>
        <p:txBody>
          <a:bodyPr wrap="square" lIns="0" tIns="0" rIns="0" bIns="0" rtlCol="0" anchor="ctr"/>
          <a:lstStyle/>
          <a:p>
            <a:pPr indent="0" marL="0">
              <a:buNone/>
            </a:pPr>
            <a:r>
              <a:rPr lang="en-US" sz="750" dirty="0">
                <a:solidFill>
                  <a:srgbClr val="5B7DB1"/>
                </a:solidFill>
                <a:latin typeface="Calibri" pitchFamily="34" charset="0"/>
                <a:ea typeface="Calibri" pitchFamily="34" charset="-122"/>
                <a:cs typeface="Calibri" pitchFamily="34" charset="-120"/>
              </a:rPr>
              <a:t>Diabetic Retinopathy Detection Using Deep Learning | AlexNet + Handcrafted Features</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024128"/>
          <a:ext cx="11384280" cy="5102352"/>
        </p:xfrm>
        <a:graphic>
          <a:graphicData uri="http://schemas.openxmlformats.org/drawingml/2006/table">
            <a:tbl>
              <a:tblPr/>
              <a:tblGrid>
                <a:gridCol w="1828800"/>
                <a:gridCol w="1645920"/>
                <a:gridCol w="4023360"/>
                <a:gridCol w="3200400"/>
              </a:tblGrid>
              <a:tr h="33832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Algorithm</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Pipeline Stage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Problem It Solves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Output to Next Stage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0D1B4B"/>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Average Filter</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Preprocessing 1</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Removes camera noise, eyelash artifacts, and motion blur</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Clean normalized fundus image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CLAHE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Preprocessing 2</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Boosts local contrast of vessels, microaneurysms, and exudates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Enhanced image with visible lesion boundaries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AlexNet Convolution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Deep feature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Learns hierarchical visual patterns from edges to lesion structures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2048-dim deep feature vector</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Max Pooling</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Inside AlexNet</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Compresses spatial dimensions while preserving strongest activations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Compact feature maps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PCA</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Dimensionality reduction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Removes correlated redundancy and prevents overfitting</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512 principal components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DWT</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Handcrafted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Captures multi-resolution texture from fine and coarse lesions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 wavelet features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LBP</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Handcrafted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Encodes local texture differences between healthy and diseased tissue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203 histogram features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FCH</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Handcrafted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Separates fuzzy colour patterns of red, yellow, and white lesions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16 colour features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GLCM</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Handcrafted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Measures spatial co-occurrence statistics of retinal patterns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13 texture features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Concatenation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Radiomic fusion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Unifies semantic deep features with low-level descriptors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756-dim radiomic vector</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ANN Backpropagation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Classification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Learns non-linear boundaries between the 5 DR classes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Trained model weights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3832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Softmax</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Output layer</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Converts scores into interpretable class probabilities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P(class|image) across 5 stages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bl>
          </a:graphicData>
        </a:graphic>
      </p:graphicFrame>
      <p:sp>
        <p:nvSpPr>
          <p:cNvPr id="8" name="Text 5"/>
          <p:cNvSpPr/>
          <p:nvPr/>
        </p:nvSpPr>
        <p:spPr>
          <a:xfrm>
            <a:off x="502920" y="6272784"/>
            <a:ext cx="10972800" cy="164592"/>
          </a:xfrm>
          <a:prstGeom prst="rect">
            <a:avLst/>
          </a:prstGeom>
          <a:noFill/>
          <a:ln/>
        </p:spPr>
        <p:txBody>
          <a:bodyPr wrap="square" lIns="0" tIns="0" rIns="0" bIns="0" rtlCol="0" anchor="ctr">
            <a:normAutofit/>
          </a:bodyPr>
          <a:lstStyle/>
          <a:p>
            <a:pPr indent="0" marL="0">
              <a:buNone/>
            </a:pPr>
            <a:r>
              <a:rPr lang="en-US" sz="920" b="1" i="1" dirty="0">
                <a:solidFill>
                  <a:srgbClr val="0E6B58"/>
                </a:solidFill>
                <a:latin typeface="Calibri" pitchFamily="34" charset="0"/>
                <a:ea typeface="Calibri" pitchFamily="34" charset="-122"/>
                <a:cs typeface="Calibri" pitchFamily="34" charset="-120"/>
              </a:rPr>
              <a:t>Core insight: Each algorithm compensates for the limitation of the previous one. Preprocessing removes noise, AlexNet learns real signal, PCA removes redundancy, handcrafted descriptors add fine texture and colour, fusion combines both, and ANN performs the final classification.</a:t>
            </a:r>
            <a:endParaRPr lang="en-US" sz="9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D1B4B"/>
          </a:solidFill>
          <a:ln w="12700">
            <a:solidFill>
              <a:srgbClr val="0D1B4B">
                <a:alpha val="0"/>
              </a:srgbClr>
            </a:solidFill>
            <a:prstDash val="solid"/>
          </a:ln>
        </p:spPr>
      </p:sp>
      <p:sp>
        <p:nvSpPr>
          <p:cNvPr id="3" name="Text 1"/>
          <p:cNvSpPr/>
          <p:nvPr/>
        </p:nvSpPr>
        <p:spPr>
          <a:xfrm>
            <a:off x="384048" y="146304"/>
            <a:ext cx="6583680" cy="23774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Results of Each Intermediate Step</a:t>
            </a:r>
            <a:endParaRPr lang="en-US" sz="2200" dirty="0"/>
          </a:p>
        </p:txBody>
      </p:sp>
      <p:sp>
        <p:nvSpPr>
          <p:cNvPr id="4" name="Text 2"/>
          <p:cNvSpPr/>
          <p:nvPr/>
        </p:nvSpPr>
        <p:spPr>
          <a:xfrm>
            <a:off x="384048" y="694944"/>
            <a:ext cx="10972800" cy="164592"/>
          </a:xfrm>
          <a:prstGeom prst="rect">
            <a:avLst/>
          </a:prstGeom>
          <a:noFill/>
          <a:ln/>
        </p:spPr>
        <p:txBody>
          <a:bodyPr wrap="square" lIns="0" tIns="0" rIns="0" bIns="0" rtlCol="0" anchor="ctr"/>
          <a:lstStyle/>
          <a:p>
            <a:pPr indent="0" marL="0">
              <a:buNone/>
            </a:pPr>
            <a:r>
              <a:rPr lang="en-US" sz="1050" i="1" dirty="0">
                <a:solidFill>
                  <a:srgbClr val="5B7DB1"/>
                </a:solidFill>
                <a:latin typeface="Calibri" pitchFamily="34" charset="0"/>
                <a:ea typeface="Calibri" pitchFamily="34" charset="-122"/>
                <a:cs typeface="Calibri" pitchFamily="34" charset="-120"/>
              </a:rPr>
              <a:t>Input, output dimensions and key observation at every pipeline stage</a:t>
            </a:r>
            <a:endParaRPr lang="en-US" sz="1050" dirty="0"/>
          </a:p>
        </p:txBody>
      </p:sp>
      <p:sp>
        <p:nvSpPr>
          <p:cNvPr id="5" name="Shape 3"/>
          <p:cNvSpPr/>
          <p:nvPr/>
        </p:nvSpPr>
        <p:spPr>
          <a:xfrm>
            <a:off x="0" y="6601968"/>
            <a:ext cx="12191695" cy="256032"/>
          </a:xfrm>
          <a:prstGeom prst="rect">
            <a:avLst/>
          </a:prstGeom>
          <a:solidFill>
            <a:srgbClr val="050D22"/>
          </a:solidFill>
          <a:ln w="12700">
            <a:solidFill>
              <a:srgbClr val="050D22">
                <a:alpha val="0"/>
              </a:srgbClr>
            </a:solidFill>
            <a:prstDash val="solid"/>
          </a:ln>
        </p:spPr>
      </p:sp>
      <p:sp>
        <p:nvSpPr>
          <p:cNvPr id="6" name="Text 4"/>
          <p:cNvSpPr/>
          <p:nvPr/>
        </p:nvSpPr>
        <p:spPr>
          <a:xfrm>
            <a:off x="411480" y="6656832"/>
            <a:ext cx="8503920" cy="109728"/>
          </a:xfrm>
          <a:prstGeom prst="rect">
            <a:avLst/>
          </a:prstGeom>
          <a:noFill/>
          <a:ln/>
        </p:spPr>
        <p:txBody>
          <a:bodyPr wrap="square" lIns="0" tIns="0" rIns="0" bIns="0" rtlCol="0" anchor="ctr"/>
          <a:lstStyle/>
          <a:p>
            <a:pPr indent="0" marL="0">
              <a:buNone/>
            </a:pPr>
            <a:r>
              <a:rPr lang="en-US" sz="750" dirty="0">
                <a:solidFill>
                  <a:srgbClr val="5B7DB1"/>
                </a:solidFill>
                <a:latin typeface="Calibri" pitchFamily="34" charset="0"/>
                <a:ea typeface="Calibri" pitchFamily="34" charset="-122"/>
                <a:cs typeface="Calibri" pitchFamily="34" charset="-120"/>
              </a:rPr>
              <a:t>Diabetic Retinopathy Detection Using Deep Learning | AlexNet + Handcrafted Features</a:t>
            </a:r>
            <a:endParaRPr lang="en-US" sz="7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38912" y="1042416"/>
          <a:ext cx="11320272" cy="5212080"/>
        </p:xfrm>
        <a:graphic>
          <a:graphicData uri="http://schemas.openxmlformats.org/drawingml/2006/table">
            <a:tbl>
              <a:tblPr/>
              <a:tblGrid>
                <a:gridCol w="640080"/>
                <a:gridCol w="2926080"/>
                <a:gridCol w="2514600"/>
                <a:gridCol w="4983480"/>
              </a:tblGrid>
              <a:tr h="356616">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Stage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Output Shape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0D1B4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Key Observation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0D1B4B"/>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Raw image input</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227 × 227 × 3</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Variable brightness, noise, class imbalance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After Average Filter</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227 × 227 × 3 / image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Artifacts removed, more uniform brightness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After CLAHE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227 × 227 × 3 / image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Vessels sharpened, lesions become more visible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AlexNet output</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2048</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High-dimensional deep feature representations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After PCA</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512</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75% fewer features while retaining dominant variance</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DWT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12</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Multi-scale wavelet texture coefficients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LBP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203</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Local binary pattern histograms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FCH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16</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Fuzzy colour distribution values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GLCM extraction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13</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Spatial co-occurrence statistics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Handcrafted fusion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244</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Compact texture and colour descriptor</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Radiomic fusion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12,413 × 756</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Full discriminative radiomic vector</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ANN training</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Trained model weights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Decision boundaries learned across 5 stages</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Final prediction</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DR stage label (0–4)</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99.1% accuracy on the test set</a:t>
                      </a:r>
                      <a:endParaRPr lang="en-US" sz="900" dirty="0">
                        <a:latin typeface="Calibri" charset="0"/>
                        <a:ea typeface="Calibri" charset="0"/>
                        <a:cs typeface="Calibri" charset="0"/>
                      </a:endParaRPr>
                    </a:p>
                  </a:txBody>
                  <a:tcPr marL="36576" marR="36576" marT="36576" marB="36576" anchor="mid">
                    <a:lnL w="12700" cap="flat" cmpd="sng" algn="ctr">
                      <a:solidFill>
                        <a:srgbClr val="D2DAE6"/>
                      </a:solidFill>
                      <a:prstDash val="solid"/>
                      <a:round/>
                      <a:headEnd type="none" w="med" len="med"/>
                      <a:tailEnd type="none" w="med" len="med"/>
                    </a:lnL>
                    <a:lnR w="12700" cap="flat" cmpd="sng" algn="ctr">
                      <a:solidFill>
                        <a:srgbClr val="D2DAE6"/>
                      </a:solidFill>
                      <a:prstDash val="solid"/>
                      <a:round/>
                      <a:headEnd type="none" w="med" len="med"/>
                      <a:tailEnd type="none" w="med" len="med"/>
                    </a:lnR>
                    <a:lnT w="12700" cap="flat" cmpd="sng" algn="ctr">
                      <a:solidFill>
                        <a:srgbClr val="D2DAE6"/>
                      </a:solidFill>
                      <a:prstDash val="solid"/>
                      <a:round/>
                      <a:headEnd type="none" w="med" len="med"/>
                      <a:tailEnd type="none" w="med" len="med"/>
                    </a:lnT>
                    <a:lnB w="12700" cap="flat" cmpd="sng" algn="ctr">
                      <a:solidFill>
                        <a:srgbClr val="D2DAE6"/>
                      </a:solidFill>
                      <a:prstDash val="solid"/>
                      <a:round/>
                      <a:headEnd type="none" w="med" len="med"/>
                      <a:tailEnd type="none" w="med" len="med"/>
                    </a:lnB>
                    <a:solidFill>
                      <a:srgbClr val="FFFFFF"/>
                    </a:solidFill>
                  </a:tcPr>
                </a:tc>
              </a:tr>
            </a:tbl>
          </a:graphicData>
        </a:graphic>
      </p:graphicFrame>
      <p:sp>
        <p:nvSpPr>
          <p:cNvPr id="8" name="Text 5"/>
          <p:cNvSpPr/>
          <p:nvPr/>
        </p:nvSpPr>
        <p:spPr>
          <a:xfrm>
            <a:off x="502920" y="6291072"/>
            <a:ext cx="10972800" cy="164592"/>
          </a:xfrm>
          <a:prstGeom prst="rect">
            <a:avLst/>
          </a:prstGeom>
          <a:noFill/>
          <a:ln/>
        </p:spPr>
        <p:txBody>
          <a:bodyPr wrap="square" lIns="0" tIns="0" rIns="0" bIns="0" rtlCol="0" anchor="ctr">
            <a:normAutofit/>
          </a:bodyPr>
          <a:lstStyle/>
          <a:p>
            <a:pPr indent="0" marL="0">
              <a:buNone/>
            </a:pPr>
            <a:r>
              <a:rPr lang="en-US" sz="920" b="1" i="1" dirty="0">
                <a:solidFill>
                  <a:srgbClr val="0E6B58"/>
                </a:solidFill>
                <a:latin typeface="Calibri" pitchFamily="34" charset="0"/>
                <a:ea typeface="Calibri" pitchFamily="34" charset="-122"/>
                <a:cs typeface="Calibri" pitchFamily="34" charset="-120"/>
              </a:rPr>
              <a:t>Key insight: Reducing 2048 → 512 through PCA improves accuracy by removing correlated noise. The 756-dimensional radiomic vector gives the highest inter-class separability among all six systems reported in the journal.</a:t>
            </a:r>
            <a:endParaRPr lang="en-US" sz="9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0D1B4B"/>
          </a:solidFill>
          <a:ln w="12700">
            <a:solidFill>
              <a:srgbClr val="0D1B4B">
                <a:alpha val="0"/>
              </a:srgbClr>
            </a:solidFill>
            <a:prstDash val="solid"/>
          </a:ln>
        </p:spPr>
      </p:sp>
      <p:sp>
        <p:nvSpPr>
          <p:cNvPr id="3" name="Text 1"/>
          <p:cNvSpPr/>
          <p:nvPr/>
        </p:nvSpPr>
        <p:spPr>
          <a:xfrm>
            <a:off x="384048" y="146304"/>
            <a:ext cx="6583680" cy="23774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How to Interpret the Results</a:t>
            </a:r>
            <a:endParaRPr lang="en-US" sz="2200" dirty="0"/>
          </a:p>
        </p:txBody>
      </p:sp>
      <p:sp>
        <p:nvSpPr>
          <p:cNvPr id="4" name="Text 2"/>
          <p:cNvSpPr/>
          <p:nvPr/>
        </p:nvSpPr>
        <p:spPr>
          <a:xfrm>
            <a:off x="384048" y="694944"/>
            <a:ext cx="10972800" cy="164592"/>
          </a:xfrm>
          <a:prstGeom prst="rect">
            <a:avLst/>
          </a:prstGeom>
          <a:noFill/>
          <a:ln/>
        </p:spPr>
        <p:txBody>
          <a:bodyPr wrap="square" lIns="0" tIns="0" rIns="0" bIns="0" rtlCol="0" anchor="ctr"/>
          <a:lstStyle/>
          <a:p>
            <a:pPr indent="0" marL="0">
              <a:buNone/>
            </a:pPr>
            <a:r>
              <a:rPr lang="en-US" sz="1050" i="1" dirty="0">
                <a:solidFill>
                  <a:srgbClr val="5B7DB1"/>
                </a:solidFill>
                <a:latin typeface="Calibri" pitchFamily="34" charset="0"/>
                <a:ea typeface="Calibri" pitchFamily="34" charset="-122"/>
                <a:cs typeface="Calibri" pitchFamily="34" charset="-120"/>
              </a:rPr>
              <a:t>Understanding each metric — technically and clinically — and what the numbers mean for real patients</a:t>
            </a:r>
            <a:endParaRPr lang="en-US" sz="1050" dirty="0"/>
          </a:p>
        </p:txBody>
      </p:sp>
      <p:sp>
        <p:nvSpPr>
          <p:cNvPr id="5" name="Shape 3"/>
          <p:cNvSpPr/>
          <p:nvPr/>
        </p:nvSpPr>
        <p:spPr>
          <a:xfrm>
            <a:off x="0" y="6601968"/>
            <a:ext cx="12191695" cy="256032"/>
          </a:xfrm>
          <a:prstGeom prst="rect">
            <a:avLst/>
          </a:prstGeom>
          <a:solidFill>
            <a:srgbClr val="050D22"/>
          </a:solidFill>
          <a:ln w="12700">
            <a:solidFill>
              <a:srgbClr val="050D22">
                <a:alpha val="0"/>
              </a:srgbClr>
            </a:solidFill>
            <a:prstDash val="solid"/>
          </a:ln>
        </p:spPr>
      </p:sp>
      <p:sp>
        <p:nvSpPr>
          <p:cNvPr id="6" name="Text 4"/>
          <p:cNvSpPr/>
          <p:nvPr/>
        </p:nvSpPr>
        <p:spPr>
          <a:xfrm>
            <a:off x="411480" y="6656832"/>
            <a:ext cx="8503920" cy="109728"/>
          </a:xfrm>
          <a:prstGeom prst="rect">
            <a:avLst/>
          </a:prstGeom>
          <a:noFill/>
          <a:ln/>
        </p:spPr>
        <p:txBody>
          <a:bodyPr wrap="square" lIns="0" tIns="0" rIns="0" bIns="0" rtlCol="0" anchor="ctr"/>
          <a:lstStyle/>
          <a:p>
            <a:pPr indent="0" marL="0">
              <a:buNone/>
            </a:pPr>
            <a:r>
              <a:rPr lang="en-US" sz="750" dirty="0">
                <a:solidFill>
                  <a:srgbClr val="5B7DB1"/>
                </a:solidFill>
                <a:latin typeface="Calibri" pitchFamily="34" charset="0"/>
                <a:ea typeface="Calibri" pitchFamily="34" charset="-122"/>
                <a:cs typeface="Calibri" pitchFamily="34" charset="-120"/>
              </a:rPr>
              <a:t>Diabetic Retinopathy Detection Using Deep Learning | AlexNet + Handcrafted Features</a:t>
            </a:r>
            <a:endParaRPr lang="en-US" sz="750" dirty="0"/>
          </a:p>
        </p:txBody>
      </p:sp>
      <p:sp>
        <p:nvSpPr>
          <p:cNvPr id="7" name="Shape 5"/>
          <p:cNvSpPr/>
          <p:nvPr/>
        </p:nvSpPr>
        <p:spPr>
          <a:xfrm>
            <a:off x="438912" y="987552"/>
            <a:ext cx="1828800" cy="768096"/>
          </a:xfrm>
          <a:prstGeom prst="roundRect">
            <a:avLst>
              <a:gd name="adj" fmla="val 9524"/>
            </a:avLst>
          </a:prstGeom>
          <a:solidFill>
            <a:srgbClr val="0E6B58"/>
          </a:solidFill>
          <a:ln w="12700">
            <a:solidFill>
              <a:srgbClr val="0E6B58"/>
            </a:solidFill>
            <a:prstDash val="solid"/>
          </a:ln>
        </p:spPr>
      </p:sp>
      <p:sp>
        <p:nvSpPr>
          <p:cNvPr id="8" name="Text 6"/>
          <p:cNvSpPr/>
          <p:nvPr/>
        </p:nvSpPr>
        <p:spPr>
          <a:xfrm>
            <a:off x="548640" y="1097280"/>
            <a:ext cx="1627632" cy="621792"/>
          </a:xfrm>
          <a:prstGeom prst="rect">
            <a:avLst/>
          </a:prstGeom>
          <a:noFill/>
          <a:ln/>
        </p:spPr>
        <p:txBody>
          <a:bodyPr wrap="square" lIns="254" tIns="254" rIns="254" bIns="254" rtlCol="0" anchor="t">
            <a:normAutofit/>
          </a:bodyPr>
          <a:lstStyle/>
          <a:p>
            <a:pPr indent="0" marL="0">
              <a:buNone/>
            </a:pPr>
            <a:r>
              <a:rPr lang="en-US" sz="1400" dirty="0">
                <a:solidFill>
                  <a:srgbClr val="FFFFFF"/>
                </a:solidFill>
                <a:latin typeface="Calibri" pitchFamily="34" charset="0"/>
                <a:ea typeface="Calibri" pitchFamily="34" charset="-122"/>
                <a:cs typeface="Calibri" pitchFamily="34" charset="-120"/>
              </a:rPr>
              <a:t>Accuracy 99.1%</a:t>
            </a:r>
            <a:endParaRPr lang="en-US" sz="1400" dirty="0"/>
          </a:p>
        </p:txBody>
      </p:sp>
      <p:sp>
        <p:nvSpPr>
          <p:cNvPr id="9" name="Shape 7"/>
          <p:cNvSpPr/>
          <p:nvPr/>
        </p:nvSpPr>
        <p:spPr>
          <a:xfrm>
            <a:off x="2450592" y="987552"/>
            <a:ext cx="3840480" cy="768096"/>
          </a:xfrm>
          <a:prstGeom prst="roundRect">
            <a:avLst>
              <a:gd name="adj" fmla="val 9524"/>
            </a:avLst>
          </a:prstGeom>
          <a:solidFill>
            <a:srgbClr val="FFFFFF"/>
          </a:solidFill>
          <a:ln w="12700">
            <a:solidFill>
              <a:srgbClr val="D2DAE6"/>
            </a:solidFill>
            <a:prstDash val="solid"/>
          </a:ln>
          <a:effectLst>
            <a:outerShdw sx="100000" sy="100000" kx="0" ky="0" algn="bl" rotWithShape="0" blurRad="12700" dist="50800" dir="2700000">
              <a:srgbClr val="B7C3D7">
                <a:alpha val="15000"/>
              </a:srgbClr>
            </a:outerShdw>
          </a:effectLst>
        </p:spPr>
      </p:sp>
      <p:sp>
        <p:nvSpPr>
          <p:cNvPr id="10" name="Text 8"/>
          <p:cNvSpPr/>
          <p:nvPr/>
        </p:nvSpPr>
        <p:spPr>
          <a:xfrm>
            <a:off x="2560320" y="1097280"/>
            <a:ext cx="3639312" cy="621792"/>
          </a:xfrm>
          <a:prstGeom prst="rect">
            <a:avLst/>
          </a:prstGeom>
          <a:noFill/>
          <a:ln/>
        </p:spPr>
        <p:txBody>
          <a:bodyPr wrap="square" lIns="254" tIns="254" rIns="254" bIns="254" rtlCol="0" anchor="t">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Formula: (TP+TN)/(TP+TN+FP+FN)</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Technical: 99.1% of all fundus images were correctly classified across the five DR stages.</a:t>
            </a:r>
            <a:endParaRPr lang="en-US" sz="950" dirty="0"/>
          </a:p>
        </p:txBody>
      </p:sp>
      <p:sp>
        <p:nvSpPr>
          <p:cNvPr id="11" name="Shape 9"/>
          <p:cNvSpPr/>
          <p:nvPr/>
        </p:nvSpPr>
        <p:spPr>
          <a:xfrm>
            <a:off x="6446520" y="987552"/>
            <a:ext cx="5285232" cy="768096"/>
          </a:xfrm>
          <a:prstGeom prst="roundRect">
            <a:avLst>
              <a:gd name="adj" fmla="val 9524"/>
            </a:avLst>
          </a:prstGeom>
          <a:solidFill>
            <a:srgbClr val="FFFFFF"/>
          </a:solidFill>
          <a:ln w="12700">
            <a:solidFill>
              <a:srgbClr val="0E6B58"/>
            </a:solidFill>
            <a:prstDash val="solid"/>
          </a:ln>
          <a:effectLst>
            <a:outerShdw sx="100000" sy="100000" kx="0" ky="0" algn="bl" rotWithShape="0" blurRad="12700" dist="50800" dir="2700000">
              <a:srgbClr val="B7C3D7">
                <a:alpha val="15000"/>
              </a:srgbClr>
            </a:outerShdw>
          </a:effectLst>
        </p:spPr>
      </p:sp>
      <p:sp>
        <p:nvSpPr>
          <p:cNvPr id="12" name="Text 10"/>
          <p:cNvSpPr/>
          <p:nvPr/>
        </p:nvSpPr>
        <p:spPr>
          <a:xfrm>
            <a:off x="6556248" y="1097280"/>
            <a:ext cx="5084064" cy="621792"/>
          </a:xfrm>
          <a:prstGeom prst="rect">
            <a:avLst/>
          </a:prstGeom>
          <a:noFill/>
          <a:ln/>
        </p:spPr>
        <p:txBody>
          <a:bodyPr wrap="square" lIns="254" tIns="254" rIns="254" bIns="254" rtlCol="0" anchor="t">
            <a:normAutofit/>
          </a:bodyPr>
          <a:lstStyle/>
          <a:p>
            <a:pPr indent="0" marL="0">
              <a:buNone/>
            </a:pPr>
            <a:r>
              <a:rPr lang="en-US" sz="960" dirty="0">
                <a:solidFill>
                  <a:srgbClr val="1E293B"/>
                </a:solidFill>
                <a:latin typeface="Calibri" pitchFamily="34" charset="0"/>
                <a:ea typeface="Calibri" pitchFamily="34" charset="-122"/>
                <a:cs typeface="Calibri" pitchFamily="34" charset="-120"/>
              </a:rPr>
              <a:t>Clinical meaning: Only about 9 in every 1,000 patients would receive an incorrect class prediction.</a:t>
            </a:r>
            <a:endParaRPr lang="en-US" sz="960" dirty="0"/>
          </a:p>
        </p:txBody>
      </p:sp>
      <p:sp>
        <p:nvSpPr>
          <p:cNvPr id="13" name="Shape 11"/>
          <p:cNvSpPr/>
          <p:nvPr/>
        </p:nvSpPr>
        <p:spPr>
          <a:xfrm>
            <a:off x="438912" y="1947672"/>
            <a:ext cx="1828800" cy="768096"/>
          </a:xfrm>
          <a:prstGeom prst="roundRect">
            <a:avLst>
              <a:gd name="adj" fmla="val 9524"/>
            </a:avLst>
          </a:prstGeom>
          <a:solidFill>
            <a:srgbClr val="1A4FA0"/>
          </a:solidFill>
          <a:ln w="12700">
            <a:solidFill>
              <a:srgbClr val="1A4FA0"/>
            </a:solidFill>
            <a:prstDash val="solid"/>
          </a:ln>
        </p:spPr>
      </p:sp>
      <p:sp>
        <p:nvSpPr>
          <p:cNvPr id="14" name="Text 12"/>
          <p:cNvSpPr/>
          <p:nvPr/>
        </p:nvSpPr>
        <p:spPr>
          <a:xfrm>
            <a:off x="548640" y="2057400"/>
            <a:ext cx="1627632" cy="621792"/>
          </a:xfrm>
          <a:prstGeom prst="rect">
            <a:avLst/>
          </a:prstGeom>
          <a:noFill/>
          <a:ln/>
        </p:spPr>
        <p:txBody>
          <a:bodyPr wrap="square" lIns="254" tIns="254" rIns="254" bIns="254" rtlCol="0" anchor="t">
            <a:normAutofit/>
          </a:bodyPr>
          <a:lstStyle/>
          <a:p>
            <a:pPr indent="0" marL="0">
              <a:buNone/>
            </a:pPr>
            <a:r>
              <a:rPr lang="en-US" sz="1400" dirty="0">
                <a:solidFill>
                  <a:srgbClr val="FFFFFF"/>
                </a:solidFill>
                <a:latin typeface="Calibri" pitchFamily="34" charset="0"/>
                <a:ea typeface="Calibri" pitchFamily="34" charset="-122"/>
                <a:cs typeface="Calibri" pitchFamily="34" charset="-120"/>
              </a:rPr>
              <a:t>Sensitivity 97.92%</a:t>
            </a:r>
            <a:endParaRPr lang="en-US" sz="1400" dirty="0"/>
          </a:p>
        </p:txBody>
      </p:sp>
      <p:sp>
        <p:nvSpPr>
          <p:cNvPr id="15" name="Shape 13"/>
          <p:cNvSpPr/>
          <p:nvPr/>
        </p:nvSpPr>
        <p:spPr>
          <a:xfrm>
            <a:off x="2450592" y="1947672"/>
            <a:ext cx="3840480" cy="768096"/>
          </a:xfrm>
          <a:prstGeom prst="roundRect">
            <a:avLst>
              <a:gd name="adj" fmla="val 9524"/>
            </a:avLst>
          </a:prstGeom>
          <a:solidFill>
            <a:srgbClr val="FFFFFF"/>
          </a:solidFill>
          <a:ln w="12700">
            <a:solidFill>
              <a:srgbClr val="D2DAE6"/>
            </a:solidFill>
            <a:prstDash val="solid"/>
          </a:ln>
          <a:effectLst>
            <a:outerShdw sx="100000" sy="100000" kx="0" ky="0" algn="bl" rotWithShape="0" blurRad="12700" dist="50800" dir="2700000">
              <a:srgbClr val="B7C3D7">
                <a:alpha val="15000"/>
              </a:srgbClr>
            </a:outerShdw>
          </a:effectLst>
        </p:spPr>
      </p:sp>
      <p:sp>
        <p:nvSpPr>
          <p:cNvPr id="16" name="Text 14"/>
          <p:cNvSpPr/>
          <p:nvPr/>
        </p:nvSpPr>
        <p:spPr>
          <a:xfrm>
            <a:off x="2560320" y="2057400"/>
            <a:ext cx="3639312" cy="621792"/>
          </a:xfrm>
          <a:prstGeom prst="rect">
            <a:avLst/>
          </a:prstGeom>
          <a:noFill/>
          <a:ln/>
        </p:spPr>
        <p:txBody>
          <a:bodyPr wrap="square" lIns="254" tIns="254" rIns="254" bIns="254" rtlCol="0" anchor="t">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Formula: TP/(TP+FN)</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Technical: 97.92% of actual DR cases were correctly identified by the system.</a:t>
            </a:r>
            <a:endParaRPr lang="en-US" sz="950" dirty="0"/>
          </a:p>
        </p:txBody>
      </p:sp>
      <p:sp>
        <p:nvSpPr>
          <p:cNvPr id="17" name="Shape 15"/>
          <p:cNvSpPr/>
          <p:nvPr/>
        </p:nvSpPr>
        <p:spPr>
          <a:xfrm>
            <a:off x="6446520" y="1947672"/>
            <a:ext cx="5285232" cy="768096"/>
          </a:xfrm>
          <a:prstGeom prst="roundRect">
            <a:avLst>
              <a:gd name="adj" fmla="val 9524"/>
            </a:avLst>
          </a:prstGeom>
          <a:solidFill>
            <a:srgbClr val="FFFFFF"/>
          </a:solidFill>
          <a:ln w="12700">
            <a:solidFill>
              <a:srgbClr val="1A4FA0"/>
            </a:solidFill>
            <a:prstDash val="solid"/>
          </a:ln>
          <a:effectLst>
            <a:outerShdw sx="100000" sy="100000" kx="0" ky="0" algn="bl" rotWithShape="0" blurRad="12700" dist="50800" dir="2700000">
              <a:srgbClr val="B7C3D7">
                <a:alpha val="15000"/>
              </a:srgbClr>
            </a:outerShdw>
          </a:effectLst>
        </p:spPr>
      </p:sp>
      <p:sp>
        <p:nvSpPr>
          <p:cNvPr id="18" name="Text 16"/>
          <p:cNvSpPr/>
          <p:nvPr/>
        </p:nvSpPr>
        <p:spPr>
          <a:xfrm>
            <a:off x="6556248" y="2057400"/>
            <a:ext cx="5084064" cy="621792"/>
          </a:xfrm>
          <a:prstGeom prst="rect">
            <a:avLst/>
          </a:prstGeom>
          <a:noFill/>
          <a:ln/>
        </p:spPr>
        <p:txBody>
          <a:bodyPr wrap="square" lIns="254" tIns="254" rIns="254" bIns="254" rtlCol="0" anchor="t">
            <a:normAutofit/>
          </a:bodyPr>
          <a:lstStyle/>
          <a:p>
            <a:pPr indent="0" marL="0">
              <a:buNone/>
            </a:pPr>
            <a:r>
              <a:rPr lang="en-US" sz="960" dirty="0">
                <a:solidFill>
                  <a:srgbClr val="1E293B"/>
                </a:solidFill>
                <a:latin typeface="Calibri" pitchFamily="34" charset="0"/>
                <a:ea typeface="Calibri" pitchFamily="34" charset="-122"/>
                <a:cs typeface="Calibri" pitchFamily="34" charset="-120"/>
              </a:rPr>
              <a:t>Clinical meaning: Fewer than 3 in every 100 diseased patients are missed, which is critical for screening safety.</a:t>
            </a:r>
            <a:endParaRPr lang="en-US" sz="960" dirty="0"/>
          </a:p>
        </p:txBody>
      </p:sp>
      <p:sp>
        <p:nvSpPr>
          <p:cNvPr id="19" name="Shape 17"/>
          <p:cNvSpPr/>
          <p:nvPr/>
        </p:nvSpPr>
        <p:spPr>
          <a:xfrm>
            <a:off x="438912" y="2907792"/>
            <a:ext cx="1828800" cy="768096"/>
          </a:xfrm>
          <a:prstGeom prst="roundRect">
            <a:avLst>
              <a:gd name="adj" fmla="val 9524"/>
            </a:avLst>
          </a:prstGeom>
          <a:solidFill>
            <a:srgbClr val="4A3580"/>
          </a:solidFill>
          <a:ln w="12700">
            <a:solidFill>
              <a:srgbClr val="4A3580"/>
            </a:solidFill>
            <a:prstDash val="solid"/>
          </a:ln>
        </p:spPr>
      </p:sp>
      <p:sp>
        <p:nvSpPr>
          <p:cNvPr id="20" name="Text 18"/>
          <p:cNvSpPr/>
          <p:nvPr/>
        </p:nvSpPr>
        <p:spPr>
          <a:xfrm>
            <a:off x="548640" y="3017520"/>
            <a:ext cx="1627632" cy="621792"/>
          </a:xfrm>
          <a:prstGeom prst="rect">
            <a:avLst/>
          </a:prstGeom>
          <a:noFill/>
          <a:ln/>
        </p:spPr>
        <p:txBody>
          <a:bodyPr wrap="square" lIns="254" tIns="254" rIns="254" bIns="254" rtlCol="0" anchor="t">
            <a:normAutofit/>
          </a:bodyPr>
          <a:lstStyle/>
          <a:p>
            <a:pPr indent="0" marL="0">
              <a:buNone/>
            </a:pPr>
            <a:r>
              <a:rPr lang="en-US" sz="1400" dirty="0">
                <a:solidFill>
                  <a:srgbClr val="FFFFFF"/>
                </a:solidFill>
                <a:latin typeface="Calibri" pitchFamily="34" charset="0"/>
                <a:ea typeface="Calibri" pitchFamily="34" charset="-122"/>
                <a:cs typeface="Calibri" pitchFamily="34" charset="-120"/>
              </a:rPr>
              <a:t>Specificity 99.4%</a:t>
            </a:r>
            <a:endParaRPr lang="en-US" sz="1400" dirty="0"/>
          </a:p>
        </p:txBody>
      </p:sp>
      <p:sp>
        <p:nvSpPr>
          <p:cNvPr id="21" name="Shape 19"/>
          <p:cNvSpPr/>
          <p:nvPr/>
        </p:nvSpPr>
        <p:spPr>
          <a:xfrm>
            <a:off x="2450592" y="2907792"/>
            <a:ext cx="3840480" cy="768096"/>
          </a:xfrm>
          <a:prstGeom prst="roundRect">
            <a:avLst>
              <a:gd name="adj" fmla="val 9524"/>
            </a:avLst>
          </a:prstGeom>
          <a:solidFill>
            <a:srgbClr val="FFFFFF"/>
          </a:solidFill>
          <a:ln w="12700">
            <a:solidFill>
              <a:srgbClr val="D2DAE6"/>
            </a:solidFill>
            <a:prstDash val="solid"/>
          </a:ln>
          <a:effectLst>
            <a:outerShdw sx="100000" sy="100000" kx="0" ky="0" algn="bl" rotWithShape="0" blurRad="12700" dist="50800" dir="2700000">
              <a:srgbClr val="B7C3D7">
                <a:alpha val="15000"/>
              </a:srgbClr>
            </a:outerShdw>
          </a:effectLst>
        </p:spPr>
      </p:sp>
      <p:sp>
        <p:nvSpPr>
          <p:cNvPr id="22" name="Text 20"/>
          <p:cNvSpPr/>
          <p:nvPr/>
        </p:nvSpPr>
        <p:spPr>
          <a:xfrm>
            <a:off x="2560320" y="3017520"/>
            <a:ext cx="3639312" cy="621792"/>
          </a:xfrm>
          <a:prstGeom prst="rect">
            <a:avLst/>
          </a:prstGeom>
          <a:noFill/>
          <a:ln/>
        </p:spPr>
        <p:txBody>
          <a:bodyPr wrap="square" lIns="254" tIns="254" rIns="254" bIns="254" rtlCol="0" anchor="t">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Formula: TN/(TN+FP)</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Technical: 99.4% of healthy eyes were correctly identified as healthy.</a:t>
            </a:r>
            <a:endParaRPr lang="en-US" sz="950" dirty="0"/>
          </a:p>
        </p:txBody>
      </p:sp>
      <p:sp>
        <p:nvSpPr>
          <p:cNvPr id="23" name="Shape 21"/>
          <p:cNvSpPr/>
          <p:nvPr/>
        </p:nvSpPr>
        <p:spPr>
          <a:xfrm>
            <a:off x="6446520" y="2907792"/>
            <a:ext cx="5285232" cy="768096"/>
          </a:xfrm>
          <a:prstGeom prst="roundRect">
            <a:avLst>
              <a:gd name="adj" fmla="val 9524"/>
            </a:avLst>
          </a:prstGeom>
          <a:solidFill>
            <a:srgbClr val="FFFFFF"/>
          </a:solidFill>
          <a:ln w="12700">
            <a:solidFill>
              <a:srgbClr val="4A3580"/>
            </a:solidFill>
            <a:prstDash val="solid"/>
          </a:ln>
          <a:effectLst>
            <a:outerShdw sx="100000" sy="100000" kx="0" ky="0" algn="bl" rotWithShape="0" blurRad="12700" dist="50800" dir="2700000">
              <a:srgbClr val="B7C3D7">
                <a:alpha val="15000"/>
              </a:srgbClr>
            </a:outerShdw>
          </a:effectLst>
        </p:spPr>
      </p:sp>
      <p:sp>
        <p:nvSpPr>
          <p:cNvPr id="24" name="Text 22"/>
          <p:cNvSpPr/>
          <p:nvPr/>
        </p:nvSpPr>
        <p:spPr>
          <a:xfrm>
            <a:off x="6556248" y="3017520"/>
            <a:ext cx="5084064" cy="621792"/>
          </a:xfrm>
          <a:prstGeom prst="rect">
            <a:avLst/>
          </a:prstGeom>
          <a:noFill/>
          <a:ln/>
        </p:spPr>
        <p:txBody>
          <a:bodyPr wrap="square" lIns="254" tIns="254" rIns="254" bIns="254" rtlCol="0" anchor="t">
            <a:normAutofit/>
          </a:bodyPr>
          <a:lstStyle/>
          <a:p>
            <a:pPr indent="0" marL="0">
              <a:buNone/>
            </a:pPr>
            <a:r>
              <a:rPr lang="en-US" sz="960" dirty="0">
                <a:solidFill>
                  <a:srgbClr val="1E293B"/>
                </a:solidFill>
                <a:latin typeface="Calibri" pitchFamily="34" charset="0"/>
                <a:ea typeface="Calibri" pitchFamily="34" charset="-122"/>
                <a:cs typeface="Calibri" pitchFamily="34" charset="-120"/>
              </a:rPr>
              <a:t>Clinical meaning: False alarms are rare, reducing unnecessary referrals and treatment burden.</a:t>
            </a:r>
            <a:endParaRPr lang="en-US" sz="960" dirty="0"/>
          </a:p>
        </p:txBody>
      </p:sp>
      <p:sp>
        <p:nvSpPr>
          <p:cNvPr id="25" name="Shape 23"/>
          <p:cNvSpPr/>
          <p:nvPr/>
        </p:nvSpPr>
        <p:spPr>
          <a:xfrm>
            <a:off x="438912" y="3867912"/>
            <a:ext cx="1828800" cy="768096"/>
          </a:xfrm>
          <a:prstGeom prst="roundRect">
            <a:avLst>
              <a:gd name="adj" fmla="val 9524"/>
            </a:avLst>
          </a:prstGeom>
          <a:solidFill>
            <a:srgbClr val="7A4A10"/>
          </a:solidFill>
          <a:ln w="12700">
            <a:solidFill>
              <a:srgbClr val="7A4A10"/>
            </a:solidFill>
            <a:prstDash val="solid"/>
          </a:ln>
        </p:spPr>
      </p:sp>
      <p:sp>
        <p:nvSpPr>
          <p:cNvPr id="26" name="Text 24"/>
          <p:cNvSpPr/>
          <p:nvPr/>
        </p:nvSpPr>
        <p:spPr>
          <a:xfrm>
            <a:off x="548640" y="3977640"/>
            <a:ext cx="1627632" cy="621792"/>
          </a:xfrm>
          <a:prstGeom prst="rect">
            <a:avLst/>
          </a:prstGeom>
          <a:noFill/>
          <a:ln/>
        </p:spPr>
        <p:txBody>
          <a:bodyPr wrap="square" lIns="254" tIns="254" rIns="254" bIns="254" rtlCol="0" anchor="t">
            <a:normAutofit/>
          </a:bodyPr>
          <a:lstStyle/>
          <a:p>
            <a:pPr indent="0" marL="0">
              <a:buNone/>
            </a:pPr>
            <a:r>
              <a:rPr lang="en-US" sz="1400" dirty="0">
                <a:solidFill>
                  <a:srgbClr val="FFFFFF"/>
                </a:solidFill>
                <a:latin typeface="Calibri" pitchFamily="34" charset="0"/>
                <a:ea typeface="Calibri" pitchFamily="34" charset="-122"/>
                <a:cs typeface="Calibri" pitchFamily="34" charset="-120"/>
              </a:rPr>
              <a:t>Precision 99.06%</a:t>
            </a:r>
            <a:endParaRPr lang="en-US" sz="1400" dirty="0"/>
          </a:p>
        </p:txBody>
      </p:sp>
      <p:sp>
        <p:nvSpPr>
          <p:cNvPr id="27" name="Shape 25"/>
          <p:cNvSpPr/>
          <p:nvPr/>
        </p:nvSpPr>
        <p:spPr>
          <a:xfrm>
            <a:off x="2450592" y="3867912"/>
            <a:ext cx="3840480" cy="768096"/>
          </a:xfrm>
          <a:prstGeom prst="roundRect">
            <a:avLst>
              <a:gd name="adj" fmla="val 9524"/>
            </a:avLst>
          </a:prstGeom>
          <a:solidFill>
            <a:srgbClr val="FFFFFF"/>
          </a:solidFill>
          <a:ln w="12700">
            <a:solidFill>
              <a:srgbClr val="D2DAE6"/>
            </a:solidFill>
            <a:prstDash val="solid"/>
          </a:ln>
          <a:effectLst>
            <a:outerShdw sx="100000" sy="100000" kx="0" ky="0" algn="bl" rotWithShape="0" blurRad="12700" dist="50800" dir="2700000">
              <a:srgbClr val="B7C3D7">
                <a:alpha val="15000"/>
              </a:srgbClr>
            </a:outerShdw>
          </a:effectLst>
        </p:spPr>
      </p:sp>
      <p:sp>
        <p:nvSpPr>
          <p:cNvPr id="28" name="Text 26"/>
          <p:cNvSpPr/>
          <p:nvPr/>
        </p:nvSpPr>
        <p:spPr>
          <a:xfrm>
            <a:off x="2560320" y="3977640"/>
            <a:ext cx="3639312" cy="621792"/>
          </a:xfrm>
          <a:prstGeom prst="rect">
            <a:avLst/>
          </a:prstGeom>
          <a:noFill/>
          <a:ln/>
        </p:spPr>
        <p:txBody>
          <a:bodyPr wrap="square" lIns="254" tIns="254" rIns="254" bIns="254" rtlCol="0" anchor="t">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Formula: TP/(TP+FP)</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Technical: When the system predicts DR, it is correct 99.06% of the time.</a:t>
            </a:r>
            <a:endParaRPr lang="en-US" sz="950" dirty="0"/>
          </a:p>
        </p:txBody>
      </p:sp>
      <p:sp>
        <p:nvSpPr>
          <p:cNvPr id="29" name="Shape 27"/>
          <p:cNvSpPr/>
          <p:nvPr/>
        </p:nvSpPr>
        <p:spPr>
          <a:xfrm>
            <a:off x="6446520" y="3867912"/>
            <a:ext cx="5285232" cy="768096"/>
          </a:xfrm>
          <a:prstGeom prst="roundRect">
            <a:avLst>
              <a:gd name="adj" fmla="val 9524"/>
            </a:avLst>
          </a:prstGeom>
          <a:solidFill>
            <a:srgbClr val="FFFFFF"/>
          </a:solidFill>
          <a:ln w="12700">
            <a:solidFill>
              <a:srgbClr val="7A4A10"/>
            </a:solidFill>
            <a:prstDash val="solid"/>
          </a:ln>
          <a:effectLst>
            <a:outerShdw sx="100000" sy="100000" kx="0" ky="0" algn="bl" rotWithShape="0" blurRad="12700" dist="50800" dir="2700000">
              <a:srgbClr val="B7C3D7">
                <a:alpha val="15000"/>
              </a:srgbClr>
            </a:outerShdw>
          </a:effectLst>
        </p:spPr>
      </p:sp>
      <p:sp>
        <p:nvSpPr>
          <p:cNvPr id="30" name="Text 28"/>
          <p:cNvSpPr/>
          <p:nvPr/>
        </p:nvSpPr>
        <p:spPr>
          <a:xfrm>
            <a:off x="6556248" y="3977640"/>
            <a:ext cx="5084064" cy="621792"/>
          </a:xfrm>
          <a:prstGeom prst="rect">
            <a:avLst/>
          </a:prstGeom>
          <a:noFill/>
          <a:ln/>
        </p:spPr>
        <p:txBody>
          <a:bodyPr wrap="square" lIns="254" tIns="254" rIns="254" bIns="254" rtlCol="0" anchor="t">
            <a:normAutofit/>
          </a:bodyPr>
          <a:lstStyle/>
          <a:p>
            <a:pPr indent="0" marL="0">
              <a:buNone/>
            </a:pPr>
            <a:r>
              <a:rPr lang="en-US" sz="960" dirty="0">
                <a:solidFill>
                  <a:srgbClr val="1E293B"/>
                </a:solidFill>
                <a:latin typeface="Calibri" pitchFamily="34" charset="0"/>
                <a:ea typeface="Calibri" pitchFamily="34" charset="-122"/>
                <a:cs typeface="Calibri" pitchFamily="34" charset="-120"/>
              </a:rPr>
              <a:t>Clinical meaning: Clinicians can trust a positive prediction with high confidence.</a:t>
            </a:r>
            <a:endParaRPr lang="en-US" sz="960" dirty="0"/>
          </a:p>
        </p:txBody>
      </p:sp>
      <p:sp>
        <p:nvSpPr>
          <p:cNvPr id="31" name="Shape 29"/>
          <p:cNvSpPr/>
          <p:nvPr/>
        </p:nvSpPr>
        <p:spPr>
          <a:xfrm>
            <a:off x="438912" y="4828032"/>
            <a:ext cx="1828800" cy="768096"/>
          </a:xfrm>
          <a:prstGeom prst="roundRect">
            <a:avLst>
              <a:gd name="adj" fmla="val 9524"/>
            </a:avLst>
          </a:prstGeom>
          <a:solidFill>
            <a:srgbClr val="7A1A1A"/>
          </a:solidFill>
          <a:ln w="12700">
            <a:solidFill>
              <a:srgbClr val="7A1A1A"/>
            </a:solidFill>
            <a:prstDash val="solid"/>
          </a:ln>
        </p:spPr>
      </p:sp>
      <p:sp>
        <p:nvSpPr>
          <p:cNvPr id="32" name="Text 30"/>
          <p:cNvSpPr/>
          <p:nvPr/>
        </p:nvSpPr>
        <p:spPr>
          <a:xfrm>
            <a:off x="548640" y="4937760"/>
            <a:ext cx="1627632" cy="621792"/>
          </a:xfrm>
          <a:prstGeom prst="rect">
            <a:avLst/>
          </a:prstGeom>
          <a:noFill/>
          <a:ln/>
        </p:spPr>
        <p:txBody>
          <a:bodyPr wrap="square" lIns="254" tIns="254" rIns="254" bIns="254" rtlCol="0" anchor="t">
            <a:normAutofit/>
          </a:bodyPr>
          <a:lstStyle/>
          <a:p>
            <a:pPr indent="0" marL="0">
              <a:buNone/>
            </a:pPr>
            <a:r>
              <a:rPr lang="en-US" sz="1400" dirty="0">
                <a:solidFill>
                  <a:srgbClr val="FFFFFF"/>
                </a:solidFill>
                <a:latin typeface="Calibri" pitchFamily="34" charset="0"/>
                <a:ea typeface="Calibri" pitchFamily="34" charset="-122"/>
                <a:cs typeface="Calibri" pitchFamily="34" charset="-120"/>
              </a:rPr>
              <a:t>AUC 99.56%</a:t>
            </a:r>
            <a:endParaRPr lang="en-US" sz="1400" dirty="0"/>
          </a:p>
        </p:txBody>
      </p:sp>
      <p:sp>
        <p:nvSpPr>
          <p:cNvPr id="33" name="Shape 31"/>
          <p:cNvSpPr/>
          <p:nvPr/>
        </p:nvSpPr>
        <p:spPr>
          <a:xfrm>
            <a:off x="2450592" y="4828032"/>
            <a:ext cx="3840480" cy="768096"/>
          </a:xfrm>
          <a:prstGeom prst="roundRect">
            <a:avLst>
              <a:gd name="adj" fmla="val 9524"/>
            </a:avLst>
          </a:prstGeom>
          <a:solidFill>
            <a:srgbClr val="FFFFFF"/>
          </a:solidFill>
          <a:ln w="12700">
            <a:solidFill>
              <a:srgbClr val="D2DAE6"/>
            </a:solidFill>
            <a:prstDash val="solid"/>
          </a:ln>
          <a:effectLst>
            <a:outerShdw sx="100000" sy="100000" kx="0" ky="0" algn="bl" rotWithShape="0" blurRad="12700" dist="50800" dir="2700000">
              <a:srgbClr val="B7C3D7">
                <a:alpha val="15000"/>
              </a:srgbClr>
            </a:outerShdw>
          </a:effectLst>
        </p:spPr>
      </p:sp>
      <p:sp>
        <p:nvSpPr>
          <p:cNvPr id="34" name="Text 32"/>
          <p:cNvSpPr/>
          <p:nvPr/>
        </p:nvSpPr>
        <p:spPr>
          <a:xfrm>
            <a:off x="2560320" y="4937760"/>
            <a:ext cx="3639312" cy="621792"/>
          </a:xfrm>
          <a:prstGeom prst="rect">
            <a:avLst/>
          </a:prstGeom>
          <a:noFill/>
          <a:ln/>
        </p:spPr>
        <p:txBody>
          <a:bodyPr wrap="square" lIns="254" tIns="254" rIns="254" bIns="254" rtlCol="0" anchor="t">
            <a:normAutofit/>
          </a:bodyPr>
          <a:lstStyle/>
          <a:p>
            <a:pPr indent="0" marL="0">
              <a:buNone/>
            </a:pPr>
            <a:r>
              <a:rPr lang="en-US" sz="950" dirty="0">
                <a:solidFill>
                  <a:srgbClr val="1E293B"/>
                </a:solidFill>
                <a:latin typeface="Calibri" pitchFamily="34" charset="0"/>
                <a:ea typeface="Calibri" pitchFamily="34" charset="-122"/>
                <a:cs typeface="Calibri" pitchFamily="34" charset="-120"/>
              </a:rPr>
              <a:t>Formula: Area under ROC curve</a:t>
            </a:r>
            <a:endParaRPr lang="en-US" sz="950" dirty="0"/>
          </a:p>
          <a:p>
            <a:pPr indent="0" marL="0">
              <a:buNone/>
            </a:pPr>
            <a:r>
              <a:rPr lang="en-US" sz="950" dirty="0">
                <a:solidFill>
                  <a:srgbClr val="1E293B"/>
                </a:solidFill>
                <a:latin typeface="Calibri" pitchFamily="34" charset="0"/>
                <a:ea typeface="Calibri" pitchFamily="34" charset="-122"/>
                <a:cs typeface="Calibri" pitchFamily="34" charset="-120"/>
              </a:rPr>
              <a:t>Technical: The classifier shows near-perfect separability between classes.</a:t>
            </a:r>
            <a:endParaRPr lang="en-US" sz="950" dirty="0"/>
          </a:p>
        </p:txBody>
      </p:sp>
      <p:sp>
        <p:nvSpPr>
          <p:cNvPr id="35" name="Shape 33"/>
          <p:cNvSpPr/>
          <p:nvPr/>
        </p:nvSpPr>
        <p:spPr>
          <a:xfrm>
            <a:off x="6446520" y="4828032"/>
            <a:ext cx="5285232" cy="768096"/>
          </a:xfrm>
          <a:prstGeom prst="roundRect">
            <a:avLst>
              <a:gd name="adj" fmla="val 9524"/>
            </a:avLst>
          </a:prstGeom>
          <a:solidFill>
            <a:srgbClr val="FFFFFF"/>
          </a:solidFill>
          <a:ln w="12700">
            <a:solidFill>
              <a:srgbClr val="7A1A1A"/>
            </a:solidFill>
            <a:prstDash val="solid"/>
          </a:ln>
          <a:effectLst>
            <a:outerShdw sx="100000" sy="100000" kx="0" ky="0" algn="bl" rotWithShape="0" blurRad="12700" dist="50800" dir="2700000">
              <a:srgbClr val="B7C3D7">
                <a:alpha val="15000"/>
              </a:srgbClr>
            </a:outerShdw>
          </a:effectLst>
        </p:spPr>
      </p:sp>
      <p:sp>
        <p:nvSpPr>
          <p:cNvPr id="36" name="Text 34"/>
          <p:cNvSpPr/>
          <p:nvPr/>
        </p:nvSpPr>
        <p:spPr>
          <a:xfrm>
            <a:off x="6556248" y="4937760"/>
            <a:ext cx="5084064" cy="621792"/>
          </a:xfrm>
          <a:prstGeom prst="rect">
            <a:avLst/>
          </a:prstGeom>
          <a:noFill/>
          <a:ln/>
        </p:spPr>
        <p:txBody>
          <a:bodyPr wrap="square" lIns="254" tIns="254" rIns="254" bIns="254" rtlCol="0" anchor="t">
            <a:normAutofit/>
          </a:bodyPr>
          <a:lstStyle/>
          <a:p>
            <a:pPr indent="0" marL="0">
              <a:buNone/>
            </a:pPr>
            <a:r>
              <a:rPr lang="en-US" sz="960" dirty="0">
                <a:solidFill>
                  <a:srgbClr val="1E293B"/>
                </a:solidFill>
                <a:latin typeface="Calibri" pitchFamily="34" charset="0"/>
                <a:ea typeface="Calibri" pitchFamily="34" charset="-122"/>
                <a:cs typeface="Calibri" pitchFamily="34" charset="-120"/>
              </a:rPr>
              <a:t>Clinical meaning: The system can reliably rank severe disease above mild disease for triage and prioritisation.</a:t>
            </a:r>
            <a:endParaRPr lang="en-US" sz="960" dirty="0"/>
          </a:p>
        </p:txBody>
      </p:sp>
      <p:sp>
        <p:nvSpPr>
          <p:cNvPr id="37" name="Shape 35"/>
          <p:cNvSpPr/>
          <p:nvPr/>
        </p:nvSpPr>
        <p:spPr>
          <a:xfrm>
            <a:off x="502920" y="5870448"/>
            <a:ext cx="11155680" cy="384048"/>
          </a:xfrm>
          <a:prstGeom prst="roundRect">
            <a:avLst>
              <a:gd name="adj" fmla="val 19048"/>
            </a:avLst>
          </a:prstGeom>
          <a:solidFill>
            <a:srgbClr val="E7F7F2"/>
          </a:solidFill>
          <a:ln w="12700">
            <a:solidFill>
              <a:srgbClr val="0E6B58"/>
            </a:solidFill>
            <a:prstDash val="solid"/>
          </a:ln>
        </p:spPr>
      </p:sp>
      <p:sp>
        <p:nvSpPr>
          <p:cNvPr id="38" name="Text 36"/>
          <p:cNvSpPr/>
          <p:nvPr/>
        </p:nvSpPr>
        <p:spPr>
          <a:xfrm>
            <a:off x="612648" y="5980176"/>
            <a:ext cx="10954512" cy="237744"/>
          </a:xfrm>
          <a:prstGeom prst="rect">
            <a:avLst/>
          </a:prstGeom>
          <a:noFill/>
          <a:ln/>
        </p:spPr>
        <p:txBody>
          <a:bodyPr wrap="square" lIns="254" tIns="254" rIns="254" bIns="254" rtlCol="0" anchor="t">
            <a:normAutofit/>
          </a:bodyPr>
          <a:lstStyle/>
          <a:p>
            <a:pPr indent="0" marL="0">
              <a:buNone/>
            </a:pPr>
            <a:r>
              <a:rPr lang="en-US" sz="970" dirty="0">
                <a:solidFill>
                  <a:srgbClr val="0E6B58"/>
                </a:solidFill>
                <a:latin typeface="Calibri" pitchFamily="34" charset="0"/>
                <a:ea typeface="Calibri" pitchFamily="34" charset="-122"/>
                <a:cs typeface="Calibri" pitchFamily="34" charset="-120"/>
              </a:rPr>
              <a:t>Rule of thumb: Accuracy &gt;95% is clinically strong, Sensitivity &gt;90% is safe for screening, and AUC &gt;95% shows excellent discrimination. This system exceeds all three thresholds.</a:t>
            </a:r>
            <a:endParaRPr lang="en-US" sz="9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4B"/>
        </a:solidFill>
      </p:bgPr>
    </p:bg>
    <p:spTree>
      <p:nvGrpSpPr>
        <p:cNvPr id="1" name=""/>
        <p:cNvGrpSpPr/>
        <p:nvPr/>
      </p:nvGrpSpPr>
      <p:grpSpPr>
        <a:xfrm>
          <a:off x="0" y="0"/>
          <a:ext cx="0" cy="0"/>
          <a:chOff x="0" y="0"/>
          <a:chExt cx="0" cy="0"/>
        </a:xfrm>
      </p:grpSpPr>
      <p:sp>
        <p:nvSpPr>
          <p:cNvPr id="2" name="Text 0"/>
          <p:cNvSpPr/>
          <p:nvPr/>
        </p:nvSpPr>
        <p:spPr>
          <a:xfrm>
            <a:off x="685800" y="411480"/>
            <a:ext cx="3200400" cy="256032"/>
          </a:xfrm>
          <a:prstGeom prst="rect">
            <a:avLst/>
          </a:prstGeom>
          <a:noFill/>
          <a:ln/>
        </p:spPr>
        <p:txBody>
          <a:bodyPr wrap="square" lIns="0" tIns="0" rIns="0" bIns="0"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Conclusion</a:t>
            </a:r>
            <a:endParaRPr lang="en-US" sz="2300" dirty="0"/>
          </a:p>
        </p:txBody>
      </p:sp>
      <p:sp>
        <p:nvSpPr>
          <p:cNvPr id="3" name="Text 1"/>
          <p:cNvSpPr/>
          <p:nvPr/>
        </p:nvSpPr>
        <p:spPr>
          <a:xfrm>
            <a:off x="704088" y="786384"/>
            <a:ext cx="3474720" cy="146304"/>
          </a:xfrm>
          <a:prstGeom prst="rect">
            <a:avLst/>
          </a:prstGeom>
          <a:noFill/>
          <a:ln/>
        </p:spPr>
        <p:txBody>
          <a:bodyPr wrap="square" lIns="0" tIns="0" rIns="0" bIns="0" rtlCol="0" anchor="ctr"/>
          <a:lstStyle/>
          <a:p>
            <a:pPr indent="0" marL="0">
              <a:buNone/>
            </a:pPr>
            <a:r>
              <a:rPr lang="en-US" sz="1050" i="1" dirty="0">
                <a:solidFill>
                  <a:srgbClr val="9BAECB"/>
                </a:solidFill>
                <a:latin typeface="Calibri" pitchFamily="34" charset="0"/>
                <a:ea typeface="Calibri" pitchFamily="34" charset="-122"/>
                <a:cs typeface="Calibri" pitchFamily="34" charset="-120"/>
              </a:rPr>
              <a:t>Project objective — achieved</a:t>
            </a:r>
            <a:endParaRPr lang="en-US" sz="1050" dirty="0"/>
          </a:p>
        </p:txBody>
      </p:sp>
      <p:sp>
        <p:nvSpPr>
          <p:cNvPr id="4" name="Text 2"/>
          <p:cNvSpPr/>
          <p:nvPr/>
        </p:nvSpPr>
        <p:spPr>
          <a:xfrm>
            <a:off x="713232" y="1097280"/>
            <a:ext cx="10698480" cy="384048"/>
          </a:xfrm>
          <a:prstGeom prst="rect">
            <a:avLst/>
          </a:prstGeom>
          <a:noFill/>
          <a:ln/>
        </p:spPr>
        <p:txBody>
          <a:bodyPr wrap="square" lIns="0" tIns="0" rIns="0" bIns="0" rtlCol="0" anchor="ctr">
            <a:normAutofit/>
          </a:bodyPr>
          <a:lstStyle/>
          <a:p>
            <a:pPr indent="0" marL="0">
              <a:buNone/>
            </a:pPr>
            <a:r>
              <a:rPr lang="en-US" sz="1100" i="1" dirty="0">
                <a:solidFill>
                  <a:srgbClr val="9BAECB"/>
                </a:solidFill>
                <a:latin typeface="Calibri" pitchFamily="34" charset="0"/>
                <a:ea typeface="Calibri" pitchFamily="34" charset="-122"/>
                <a:cs typeface="Calibri" pitchFamily="34" charset="-120"/>
              </a:rPr>
              <a:t>An automated hybrid deep learning system was designed, implemented, and validated to classify retinal fundus images into all 5 DR development stages using a 756-dimensional radiomic feature pipeline.</a:t>
            </a:r>
            <a:endParaRPr lang="en-US" sz="1100" dirty="0"/>
          </a:p>
        </p:txBody>
      </p:sp>
      <p:sp>
        <p:nvSpPr>
          <p:cNvPr id="5" name="Shape 3"/>
          <p:cNvSpPr/>
          <p:nvPr/>
        </p:nvSpPr>
        <p:spPr>
          <a:xfrm>
            <a:off x="713232" y="1737360"/>
            <a:ext cx="10771632" cy="896112"/>
          </a:xfrm>
          <a:prstGeom prst="roundRect">
            <a:avLst>
              <a:gd name="adj" fmla="val 8163"/>
            </a:avLst>
          </a:prstGeom>
          <a:solidFill>
            <a:srgbClr val="11235B"/>
          </a:solidFill>
          <a:ln w="12700">
            <a:solidFill>
              <a:srgbClr val="0E6B58"/>
            </a:solidFill>
            <a:prstDash val="solid"/>
          </a:ln>
        </p:spPr>
      </p:sp>
      <p:sp>
        <p:nvSpPr>
          <p:cNvPr id="6" name="Shape 4"/>
          <p:cNvSpPr/>
          <p:nvPr/>
        </p:nvSpPr>
        <p:spPr>
          <a:xfrm>
            <a:off x="868680" y="1865376"/>
            <a:ext cx="310896" cy="310896"/>
          </a:xfrm>
          <a:prstGeom prst="ellipse">
            <a:avLst/>
          </a:prstGeom>
          <a:solidFill>
            <a:srgbClr val="FFFFFF"/>
          </a:solidFill>
          <a:ln w="12700">
            <a:solidFill>
              <a:srgbClr val="0E6B58"/>
            </a:solidFill>
            <a:prstDash val="solid"/>
          </a:ln>
        </p:spPr>
      </p:sp>
      <p:sp>
        <p:nvSpPr>
          <p:cNvPr id="7" name="Text 5"/>
          <p:cNvSpPr/>
          <p:nvPr/>
        </p:nvSpPr>
        <p:spPr>
          <a:xfrm>
            <a:off x="868680" y="1915668"/>
            <a:ext cx="310896" cy="128016"/>
          </a:xfrm>
          <a:prstGeom prst="rect">
            <a:avLst/>
          </a:prstGeom>
          <a:noFill/>
          <a:ln/>
        </p:spPr>
        <p:txBody>
          <a:bodyPr wrap="square" lIns="0" tIns="0" rIns="0" bIns="0" rtlCol="0" anchor="ctr"/>
          <a:lstStyle/>
          <a:p>
            <a:pPr algn="ctr" indent="0" marL="0">
              <a:buNone/>
            </a:pPr>
            <a:r>
              <a:rPr lang="en-US" sz="1200" b="1" dirty="0">
                <a:solidFill>
                  <a:srgbClr val="0E6B58"/>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298448" y="1837944"/>
            <a:ext cx="9875520" cy="14630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Finding 1: Hybrid radiomic features outperform single-source approaches</a:t>
            </a:r>
            <a:endParaRPr lang="en-US" sz="1200" dirty="0"/>
          </a:p>
        </p:txBody>
      </p:sp>
      <p:sp>
        <p:nvSpPr>
          <p:cNvPr id="9" name="Text 7"/>
          <p:cNvSpPr/>
          <p:nvPr/>
        </p:nvSpPr>
        <p:spPr>
          <a:xfrm>
            <a:off x="1298448" y="2066544"/>
            <a:ext cx="9875520" cy="365760"/>
          </a:xfrm>
          <a:prstGeom prst="rect">
            <a:avLst/>
          </a:prstGeom>
          <a:noFill/>
          <a:ln/>
        </p:spPr>
        <p:txBody>
          <a:bodyPr wrap="square" lIns="0" tIns="0" rIns="0" bIns="0" rtlCol="0" anchor="ctr">
            <a:normAutofit/>
          </a:bodyPr>
          <a:lstStyle/>
          <a:p>
            <a:pPr indent="0" marL="0">
              <a:buNone/>
            </a:pPr>
            <a:r>
              <a:rPr lang="en-US" sz="980" dirty="0">
                <a:solidFill>
                  <a:srgbClr val="FFFFFF"/>
                </a:solidFill>
                <a:latin typeface="Calibri" pitchFamily="34" charset="0"/>
                <a:ea typeface="Calibri" pitchFamily="34" charset="-122"/>
                <a:cs typeface="Calibri" pitchFamily="34" charset="-120"/>
              </a:rPr>
              <a:t>Combining AlexNet PCA-reduced features (512) with DWT+LBP+FCH+GLCM handcrafted features (244) creates a richer, more discriminative 756-dimensional vector than either source alone.</a:t>
            </a:r>
            <a:endParaRPr lang="en-US" sz="980" dirty="0"/>
          </a:p>
        </p:txBody>
      </p:sp>
      <p:sp>
        <p:nvSpPr>
          <p:cNvPr id="10" name="Shape 8"/>
          <p:cNvSpPr/>
          <p:nvPr/>
        </p:nvSpPr>
        <p:spPr>
          <a:xfrm>
            <a:off x="713232" y="2880360"/>
            <a:ext cx="10771632" cy="896112"/>
          </a:xfrm>
          <a:prstGeom prst="roundRect">
            <a:avLst>
              <a:gd name="adj" fmla="val 8163"/>
            </a:avLst>
          </a:prstGeom>
          <a:solidFill>
            <a:srgbClr val="11235B"/>
          </a:solidFill>
          <a:ln w="12700">
            <a:solidFill>
              <a:srgbClr val="1A4FA0"/>
            </a:solidFill>
            <a:prstDash val="solid"/>
          </a:ln>
        </p:spPr>
      </p:sp>
      <p:sp>
        <p:nvSpPr>
          <p:cNvPr id="11" name="Shape 9"/>
          <p:cNvSpPr/>
          <p:nvPr/>
        </p:nvSpPr>
        <p:spPr>
          <a:xfrm>
            <a:off x="868680" y="3008376"/>
            <a:ext cx="310896" cy="310896"/>
          </a:xfrm>
          <a:prstGeom prst="ellipse">
            <a:avLst/>
          </a:prstGeom>
          <a:solidFill>
            <a:srgbClr val="FFFFFF"/>
          </a:solidFill>
          <a:ln w="12700">
            <a:solidFill>
              <a:srgbClr val="1A4FA0"/>
            </a:solidFill>
            <a:prstDash val="solid"/>
          </a:ln>
        </p:spPr>
      </p:sp>
      <p:sp>
        <p:nvSpPr>
          <p:cNvPr id="12" name="Text 10"/>
          <p:cNvSpPr/>
          <p:nvPr/>
        </p:nvSpPr>
        <p:spPr>
          <a:xfrm>
            <a:off x="868680" y="3058668"/>
            <a:ext cx="310896" cy="128016"/>
          </a:xfrm>
          <a:prstGeom prst="rect">
            <a:avLst/>
          </a:prstGeom>
          <a:noFill/>
          <a:ln/>
        </p:spPr>
        <p:txBody>
          <a:bodyPr wrap="square" lIns="0" tIns="0" rIns="0" bIns="0" rtlCol="0" anchor="ctr"/>
          <a:lstStyle/>
          <a:p>
            <a:pPr algn="ctr" indent="0" marL="0">
              <a:buNone/>
            </a:pPr>
            <a:r>
              <a:rPr lang="en-US" sz="1200" b="1" dirty="0">
                <a:solidFill>
                  <a:srgbClr val="1A4FA0"/>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98448" y="2980944"/>
            <a:ext cx="9875520" cy="14630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Finding 2: Strategic PCA placement is critical to performance</a:t>
            </a:r>
            <a:endParaRPr lang="en-US" sz="1200" dirty="0"/>
          </a:p>
        </p:txBody>
      </p:sp>
      <p:sp>
        <p:nvSpPr>
          <p:cNvPr id="14" name="Text 12"/>
          <p:cNvSpPr/>
          <p:nvPr/>
        </p:nvSpPr>
        <p:spPr>
          <a:xfrm>
            <a:off x="1298448" y="3209544"/>
            <a:ext cx="9875520" cy="365760"/>
          </a:xfrm>
          <a:prstGeom prst="rect">
            <a:avLst/>
          </a:prstGeom>
          <a:noFill/>
          <a:ln/>
        </p:spPr>
        <p:txBody>
          <a:bodyPr wrap="square" lIns="0" tIns="0" rIns="0" bIns="0" rtlCol="0" anchor="ctr">
            <a:normAutofit/>
          </a:bodyPr>
          <a:lstStyle/>
          <a:p>
            <a:pPr indent="0" marL="0">
              <a:buNone/>
            </a:pPr>
            <a:r>
              <a:rPr lang="en-US" sz="980" dirty="0">
                <a:solidFill>
                  <a:srgbClr val="FFFFFF"/>
                </a:solidFill>
                <a:latin typeface="Calibri" pitchFamily="34" charset="0"/>
                <a:ea typeface="Calibri" pitchFamily="34" charset="-122"/>
                <a:cs typeface="Calibri" pitchFamily="34" charset="-120"/>
              </a:rPr>
              <a:t>PCA should be applied only to AlexNet features (2048 → 512). Handcrafted features are already compact and independent, so reducing them would weaken their complementary value.</a:t>
            </a:r>
            <a:endParaRPr lang="en-US" sz="980" dirty="0"/>
          </a:p>
        </p:txBody>
      </p:sp>
      <p:sp>
        <p:nvSpPr>
          <p:cNvPr id="15" name="Shape 13"/>
          <p:cNvSpPr/>
          <p:nvPr/>
        </p:nvSpPr>
        <p:spPr>
          <a:xfrm>
            <a:off x="713232" y="4023360"/>
            <a:ext cx="10771632" cy="896112"/>
          </a:xfrm>
          <a:prstGeom prst="roundRect">
            <a:avLst>
              <a:gd name="adj" fmla="val 8163"/>
            </a:avLst>
          </a:prstGeom>
          <a:solidFill>
            <a:srgbClr val="11235B"/>
          </a:solidFill>
          <a:ln w="12700">
            <a:solidFill>
              <a:srgbClr val="7A1A1A"/>
            </a:solidFill>
            <a:prstDash val="solid"/>
          </a:ln>
        </p:spPr>
      </p:sp>
      <p:sp>
        <p:nvSpPr>
          <p:cNvPr id="16" name="Shape 14"/>
          <p:cNvSpPr/>
          <p:nvPr/>
        </p:nvSpPr>
        <p:spPr>
          <a:xfrm>
            <a:off x="868680" y="4151376"/>
            <a:ext cx="310896" cy="310896"/>
          </a:xfrm>
          <a:prstGeom prst="ellipse">
            <a:avLst/>
          </a:prstGeom>
          <a:solidFill>
            <a:srgbClr val="FFFFFF"/>
          </a:solidFill>
          <a:ln w="12700">
            <a:solidFill>
              <a:srgbClr val="7A1A1A"/>
            </a:solidFill>
            <a:prstDash val="solid"/>
          </a:ln>
        </p:spPr>
      </p:sp>
      <p:sp>
        <p:nvSpPr>
          <p:cNvPr id="17" name="Text 15"/>
          <p:cNvSpPr/>
          <p:nvPr/>
        </p:nvSpPr>
        <p:spPr>
          <a:xfrm>
            <a:off x="868680" y="4201668"/>
            <a:ext cx="310896" cy="128016"/>
          </a:xfrm>
          <a:prstGeom prst="rect">
            <a:avLst/>
          </a:prstGeom>
          <a:noFill/>
          <a:ln/>
        </p:spPr>
        <p:txBody>
          <a:bodyPr wrap="square" lIns="0" tIns="0" rIns="0" bIns="0" rtlCol="0" anchor="ctr"/>
          <a:lstStyle/>
          <a:p>
            <a:pPr algn="ctr" indent="0" marL="0">
              <a:buNone/>
            </a:pPr>
            <a:r>
              <a:rPr lang="en-US" sz="1200" b="1" dirty="0">
                <a:solidFill>
                  <a:srgbClr val="7A1A1A"/>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298448" y="4123944"/>
            <a:ext cx="9875520" cy="14630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Finding 3: Clinical-grade performance is achievable</a:t>
            </a:r>
            <a:endParaRPr lang="en-US" sz="1200" dirty="0"/>
          </a:p>
        </p:txBody>
      </p:sp>
      <p:sp>
        <p:nvSpPr>
          <p:cNvPr id="19" name="Text 17"/>
          <p:cNvSpPr/>
          <p:nvPr/>
        </p:nvSpPr>
        <p:spPr>
          <a:xfrm>
            <a:off x="1298448" y="4352544"/>
            <a:ext cx="9875520" cy="365760"/>
          </a:xfrm>
          <a:prstGeom prst="rect">
            <a:avLst/>
          </a:prstGeom>
          <a:noFill/>
          <a:ln/>
        </p:spPr>
        <p:txBody>
          <a:bodyPr wrap="square" lIns="0" tIns="0" rIns="0" bIns="0" rtlCol="0" anchor="ctr">
            <a:normAutofit/>
          </a:bodyPr>
          <a:lstStyle/>
          <a:p>
            <a:pPr indent="0" marL="0">
              <a:buNone/>
            </a:pPr>
            <a:r>
              <a:rPr lang="en-US" sz="980" dirty="0">
                <a:solidFill>
                  <a:srgbClr val="FFFFFF"/>
                </a:solidFill>
                <a:latin typeface="Calibri" pitchFamily="34" charset="0"/>
                <a:ea typeface="Calibri" pitchFamily="34" charset="-122"/>
                <a:cs typeface="Calibri" pitchFamily="34" charset="-120"/>
              </a:rPr>
              <a:t>The best system reached Accuracy 99.1%, Sensitivity 97.92%, Specificity 99.4%, AUC 99.56%, and Precision 99.06%, outperforming reviewed prior methods on the EyePACS benchmark.</a:t>
            </a:r>
            <a:endParaRPr lang="en-US" sz="980" dirty="0"/>
          </a:p>
        </p:txBody>
      </p:sp>
      <p:sp>
        <p:nvSpPr>
          <p:cNvPr id="20" name="Text 18"/>
          <p:cNvSpPr/>
          <p:nvPr/>
        </p:nvSpPr>
        <p:spPr>
          <a:xfrm>
            <a:off x="731520" y="5321808"/>
            <a:ext cx="10881360" cy="237744"/>
          </a:xfrm>
          <a:prstGeom prst="rect">
            <a:avLst/>
          </a:prstGeom>
          <a:noFill/>
          <a:ln/>
        </p:spPr>
        <p:txBody>
          <a:bodyPr wrap="square" lIns="0" tIns="0" rIns="0" bIns="0" rtlCol="0" anchor="ctr">
            <a:normAutofit/>
          </a:bodyPr>
          <a:lstStyle/>
          <a:p>
            <a:pPr indent="0" marL="0">
              <a:buNone/>
            </a:pPr>
            <a:r>
              <a:rPr lang="en-US" sz="1120" b="1" i="1" dirty="0">
                <a:solidFill>
                  <a:srgbClr val="F5C542"/>
                </a:solidFill>
                <a:latin typeface="Calibri" pitchFamily="34" charset="0"/>
                <a:ea typeface="Calibri" pitchFamily="34" charset="-122"/>
                <a:cs typeface="Calibri" pitchFamily="34" charset="-120"/>
              </a:rPr>
              <a:t>Impact: Early automated detection of Mild and Moderate NPDR can prevent progression to Proliferative DR and blindness in millions of diabetic patients worldwide.</a:t>
            </a:r>
            <a:endParaRPr lang="en-US" sz="1120" dirty="0"/>
          </a:p>
        </p:txBody>
      </p:sp>
      <p:sp>
        <p:nvSpPr>
          <p:cNvPr id="21" name="Text 19"/>
          <p:cNvSpPr/>
          <p:nvPr/>
        </p:nvSpPr>
        <p:spPr>
          <a:xfrm>
            <a:off x="731520" y="5806440"/>
            <a:ext cx="10881360" cy="146304"/>
          </a:xfrm>
          <a:prstGeom prst="rect">
            <a:avLst/>
          </a:prstGeom>
          <a:noFill/>
          <a:ln/>
        </p:spPr>
        <p:txBody>
          <a:bodyPr wrap="square" lIns="0" tIns="0" rIns="0" bIns="0" rtlCol="0" anchor="ctr">
            <a:normAutofit/>
          </a:bodyPr>
          <a:lstStyle/>
          <a:p>
            <a:pPr indent="0" marL="0">
              <a:buNone/>
            </a:pPr>
            <a:r>
              <a:rPr lang="en-US" sz="920" dirty="0">
                <a:solidFill>
                  <a:srgbClr val="9BAECB"/>
                </a:solidFill>
                <a:latin typeface="Calibri" pitchFamily="34" charset="0"/>
                <a:ea typeface="Calibri" pitchFamily="34" charset="-122"/>
                <a:cs typeface="Calibri" pitchFamily="34" charset="-120"/>
              </a:rPr>
              <a:t>Future: External validation on Messidor/APTOS · Continuous severity grading · Mobile or web deployment · Grad-CAM explainability for clinician review</a:t>
            </a:r>
            <a:endParaRPr lang="en-US" sz="920" dirty="0"/>
          </a:p>
        </p:txBody>
      </p:sp>
      <p:sp>
        <p:nvSpPr>
          <p:cNvPr id="22" name="Shape 20"/>
          <p:cNvSpPr/>
          <p:nvPr/>
        </p:nvSpPr>
        <p:spPr>
          <a:xfrm>
            <a:off x="0" y="6601968"/>
            <a:ext cx="12191695" cy="256032"/>
          </a:xfrm>
          <a:prstGeom prst="rect">
            <a:avLst/>
          </a:prstGeom>
          <a:solidFill>
            <a:srgbClr val="050D22"/>
          </a:solidFill>
          <a:ln w="12700">
            <a:solidFill>
              <a:srgbClr val="050D22">
                <a:alpha val="0"/>
              </a:srgbClr>
            </a:solidFill>
            <a:prstDash val="solid"/>
          </a:ln>
        </p:spPr>
      </p:sp>
      <p:sp>
        <p:nvSpPr>
          <p:cNvPr id="23" name="Text 21"/>
          <p:cNvSpPr/>
          <p:nvPr/>
        </p:nvSpPr>
        <p:spPr>
          <a:xfrm>
            <a:off x="411480" y="6656832"/>
            <a:ext cx="8503920" cy="109728"/>
          </a:xfrm>
          <a:prstGeom prst="rect">
            <a:avLst/>
          </a:prstGeom>
          <a:noFill/>
          <a:ln/>
        </p:spPr>
        <p:txBody>
          <a:bodyPr wrap="square" lIns="0" tIns="0" rIns="0" bIns="0" rtlCol="0" anchor="ctr"/>
          <a:lstStyle/>
          <a:p>
            <a:pPr indent="0" marL="0">
              <a:buNone/>
            </a:pPr>
            <a:r>
              <a:rPr lang="en-US" sz="750" dirty="0">
                <a:solidFill>
                  <a:srgbClr val="5B7DB1"/>
                </a:solidFill>
                <a:latin typeface="Calibri" pitchFamily="34" charset="0"/>
                <a:ea typeface="Calibri" pitchFamily="34" charset="-122"/>
                <a:cs typeface="Calibri" pitchFamily="34" charset="-120"/>
              </a:rPr>
              <a:t>Diabetic Retinopathy Detection Using Deep Learning | AlexNet + Handcrafted Features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Diabetic Retinopathy Detection and Stage Classification Using Deep Learning</dc:title>
  <dc:subject>Diabetic Retinopathy Detection using AlexNet + Handcrafted Features</dc:subject>
  <dc:creator>OpenAI Codex</dc:creator>
  <cp:lastModifiedBy>OpenAI Codex</cp:lastModifiedBy>
  <cp:revision>1</cp:revision>
  <dcterms:created xsi:type="dcterms:W3CDTF">2026-03-31T03:56:09Z</dcterms:created>
  <dcterms:modified xsi:type="dcterms:W3CDTF">2026-03-31T03:56:09Z</dcterms:modified>
</cp:coreProperties>
</file>